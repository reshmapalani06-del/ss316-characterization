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9E93DEC-B814-473E-B6FB-395829DA1DCD}">
  <a:tblStyle styleId="{59E93DEC-B814-473E-B6FB-395829DA1DCD}"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1ADC0EA7-59B2-4048-998C-715A9385E0A3}"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I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 name="Google Shape;9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 name="Google Shape;10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 name="Google Shape;112;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bf079169b8_7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bf079169b8_7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 name="Google Shape;120;g3bf079169b8_7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c950d7517e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c950d7517e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 name="Google Shape;128;g3c950d7517e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bf079169b8_0_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bf079169b8_0_4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 name="Google Shape;140;g3bf079169b8_0_4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bf079169b8_3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bf079169b8_3_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 name="Google Shape;148;g3bf079169b8_3_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bf079169b8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bf079169b8_1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 name="Google Shape;164;g3bf079169b8_1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bf079169b8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bf079169b8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2" name="Google Shape;172;g3bf079169b8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bf079169b8_0_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bf079169b8_0_2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 name="Google Shape;180;g3bf079169b8_0_2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bf079169b8_0_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bf079169b8_0_7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8" name="Google Shape;188;g3bf079169b8_0_7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bf079169b8_0_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bf079169b8_0_5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6" name="Google Shape;196;g3bf079169b8_0_5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bf4226e4fe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bf4226e4fe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 name="Google Shape;204;g3bf4226e4fe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2" name="Google Shape;21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c96523543f_0_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3c96523543f_0_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0" name="Google Shape;220;g3c96523543f_0_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c96523543f_0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3c96523543f_0_1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9" name="Google Shape;229;g3c96523543f_0_1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6" name="Google Shape;236;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3" name="Google Shape;243;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0" name="Google Shape;250;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6" name="Google Shape;256;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 name="Shape 27"/>
        <p:cNvGrpSpPr/>
        <p:nvPr/>
      </p:nvGrpSpPr>
      <p:grpSpPr>
        <a:xfrm>
          <a:off x="0" y="0"/>
          <a:ext cx="0" cy="0"/>
          <a:chOff x="0" y="0"/>
          <a:chExt cx="0" cy="0"/>
        </a:xfrm>
      </p:grpSpPr>
      <p:sp>
        <p:nvSpPr>
          <p:cNvPr id="28" name="Google Shape;28;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5"/>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4" name="Google Shape;34;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6"/>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6"/>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7"/>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7"/>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7" name="Google Shape;47;p7"/>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7"/>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9" name="Google Shape;49;p7"/>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p:nvPr>
            <p:ph idx="2" type="pic"/>
          </p:nvPr>
        </p:nvSpPr>
        <p:spPr>
          <a:xfrm>
            <a:off x="5183188" y="987425"/>
            <a:ext cx="6172200" cy="4873625"/>
          </a:xfrm>
          <a:prstGeom prst="rect">
            <a:avLst/>
          </a:prstGeom>
          <a:noFill/>
          <a:ln>
            <a:noFill/>
          </a:ln>
        </p:spPr>
      </p:sp>
      <p:sp>
        <p:nvSpPr>
          <p:cNvPr id="68" name="Google Shape;68;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jpg"/><Relationship Id="rId4" Type="http://schemas.openxmlformats.org/officeDocument/2006/relationships/image" Target="../media/image3.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7.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3"/>
          <p:cNvSpPr txBox="1"/>
          <p:nvPr>
            <p:ph idx="1" type="subTitle"/>
          </p:nvPr>
        </p:nvSpPr>
        <p:spPr>
          <a:xfrm>
            <a:off x="1139100" y="3601360"/>
            <a:ext cx="9144000" cy="753900"/>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FF0000"/>
              </a:buClr>
              <a:buSzPts val="2400"/>
              <a:buNone/>
            </a:pPr>
            <a:r>
              <a:rPr lang="en-IN">
                <a:solidFill>
                  <a:srgbClr val="FF0000"/>
                </a:solidFill>
                <a:latin typeface="Times New Roman"/>
                <a:ea typeface="Times New Roman"/>
                <a:cs typeface="Times New Roman"/>
                <a:sym typeface="Times New Roman"/>
              </a:rPr>
              <a:t>MAJOR-PROJECT REVIEW - I</a:t>
            </a:r>
            <a:endParaRPr>
              <a:solidFill>
                <a:srgbClr val="FF0000"/>
              </a:solidFill>
              <a:latin typeface="Times New Roman"/>
              <a:ea typeface="Times New Roman"/>
              <a:cs typeface="Times New Roman"/>
              <a:sym typeface="Times New Roman"/>
            </a:endParaRPr>
          </a:p>
        </p:txBody>
      </p:sp>
      <p:pic>
        <p:nvPicPr>
          <p:cNvPr id="89" name="Google Shape;89;p13"/>
          <p:cNvPicPr preferRelativeResize="0"/>
          <p:nvPr/>
        </p:nvPicPr>
        <p:blipFill rotWithShape="1">
          <a:blip r:embed="rId3">
            <a:alphaModFix/>
          </a:blip>
          <a:srcRect b="0" l="0" r="0" t="0"/>
          <a:stretch/>
        </p:blipFill>
        <p:spPr>
          <a:xfrm>
            <a:off x="2293494" y="256875"/>
            <a:ext cx="7570033" cy="1343325"/>
          </a:xfrm>
          <a:prstGeom prst="rect">
            <a:avLst/>
          </a:prstGeom>
          <a:noFill/>
          <a:ln>
            <a:noFill/>
          </a:ln>
        </p:spPr>
      </p:pic>
      <p:cxnSp>
        <p:nvCxnSpPr>
          <p:cNvPr id="90" name="Google Shape;90;p13"/>
          <p:cNvCxnSpPr/>
          <p:nvPr/>
        </p:nvCxnSpPr>
        <p:spPr>
          <a:xfrm>
            <a:off x="1681397" y="1600200"/>
            <a:ext cx="8829206" cy="0"/>
          </a:xfrm>
          <a:prstGeom prst="straightConnector1">
            <a:avLst/>
          </a:prstGeom>
          <a:noFill/>
          <a:ln cap="flat" cmpd="sng" w="9525">
            <a:solidFill>
              <a:schemeClr val="accent1"/>
            </a:solidFill>
            <a:prstDash val="solid"/>
            <a:miter lim="800000"/>
            <a:headEnd len="sm" w="sm" type="none"/>
            <a:tailEnd len="sm" w="sm" type="none"/>
          </a:ln>
        </p:spPr>
      </p:cxnSp>
      <p:sp>
        <p:nvSpPr>
          <p:cNvPr id="91" name="Google Shape;91;p13"/>
          <p:cNvSpPr txBox="1"/>
          <p:nvPr/>
        </p:nvSpPr>
        <p:spPr>
          <a:xfrm>
            <a:off x="2113281" y="1783830"/>
            <a:ext cx="7195612"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0" lang="en-IN" sz="2800" u="none" cap="none" strike="noStrike">
                <a:solidFill>
                  <a:srgbClr val="FF0000"/>
                </a:solidFill>
                <a:latin typeface="Times New Roman"/>
                <a:ea typeface="Times New Roman"/>
                <a:cs typeface="Times New Roman"/>
                <a:sym typeface="Times New Roman"/>
              </a:rPr>
              <a:t>SCHOOL OF MECHANICAL ENGINEERING </a:t>
            </a:r>
            <a:endParaRPr i="0" sz="2800" u="none" cap="none" strike="noStrike">
              <a:solidFill>
                <a:srgbClr val="FF0000"/>
              </a:solidFill>
              <a:latin typeface="Times New Roman"/>
              <a:ea typeface="Times New Roman"/>
              <a:cs typeface="Times New Roman"/>
              <a:sym typeface="Times New Roman"/>
            </a:endParaRPr>
          </a:p>
        </p:txBody>
      </p:sp>
      <p:sp>
        <p:nvSpPr>
          <p:cNvPr id="92" name="Google Shape;92;p13"/>
          <p:cNvSpPr txBox="1"/>
          <p:nvPr/>
        </p:nvSpPr>
        <p:spPr>
          <a:xfrm>
            <a:off x="6660313" y="4076300"/>
            <a:ext cx="5297100" cy="20394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0" i="0" lang="en-IN" sz="2300" u="none" cap="none" strike="noStrike">
                <a:solidFill>
                  <a:schemeClr val="dk1"/>
                </a:solidFill>
                <a:latin typeface="Times New Roman"/>
                <a:ea typeface="Times New Roman"/>
                <a:cs typeface="Times New Roman"/>
                <a:sym typeface="Times New Roman"/>
              </a:rPr>
              <a:t>Batch Members: </a:t>
            </a:r>
            <a:endParaRPr/>
          </a:p>
          <a:p>
            <a:pPr indent="0" lvl="0" marL="0" marR="0" rtl="0" algn="l">
              <a:lnSpc>
                <a:spcPct val="150000"/>
              </a:lnSpc>
              <a:spcBef>
                <a:spcPts val="0"/>
              </a:spcBef>
              <a:spcAft>
                <a:spcPts val="0"/>
              </a:spcAft>
              <a:buNone/>
            </a:pPr>
            <a:r>
              <a:rPr lang="en-IN" sz="2300">
                <a:solidFill>
                  <a:schemeClr val="dk1"/>
                </a:solidFill>
                <a:latin typeface="Times New Roman"/>
                <a:ea typeface="Times New Roman"/>
                <a:cs typeface="Times New Roman"/>
                <a:sym typeface="Times New Roman"/>
              </a:rPr>
              <a:t>Charudharshana R</a:t>
            </a:r>
            <a:r>
              <a:rPr b="0" i="0" lang="en-IN" sz="2300" u="none" cap="none" strike="noStrike">
                <a:solidFill>
                  <a:schemeClr val="dk1"/>
                </a:solidFill>
                <a:latin typeface="Times New Roman"/>
                <a:ea typeface="Times New Roman"/>
                <a:cs typeface="Times New Roman"/>
                <a:sym typeface="Times New Roman"/>
              </a:rPr>
              <a:t>	             (126009</a:t>
            </a:r>
            <a:r>
              <a:rPr lang="en-IN" sz="2300">
                <a:solidFill>
                  <a:schemeClr val="dk1"/>
                </a:solidFill>
                <a:latin typeface="Times New Roman"/>
                <a:ea typeface="Times New Roman"/>
                <a:cs typeface="Times New Roman"/>
                <a:sym typeface="Times New Roman"/>
              </a:rPr>
              <a:t>021</a:t>
            </a:r>
            <a:r>
              <a:rPr b="0" i="0" lang="en-IN" sz="2300" u="none" cap="none" strike="noStrike">
                <a:solidFill>
                  <a:schemeClr val="dk1"/>
                </a:solidFill>
                <a:latin typeface="Times New Roman"/>
                <a:ea typeface="Times New Roman"/>
                <a:cs typeface="Times New Roman"/>
                <a:sym typeface="Times New Roman"/>
              </a:rPr>
              <a:t>)</a:t>
            </a:r>
            <a:endParaRPr/>
          </a:p>
          <a:p>
            <a:pPr indent="0" lvl="0" marL="0" marR="0" rtl="0" algn="l">
              <a:lnSpc>
                <a:spcPct val="150000"/>
              </a:lnSpc>
              <a:spcBef>
                <a:spcPts val="0"/>
              </a:spcBef>
              <a:spcAft>
                <a:spcPts val="0"/>
              </a:spcAft>
              <a:buNone/>
            </a:pPr>
            <a:r>
              <a:rPr lang="en-IN" sz="2300">
                <a:solidFill>
                  <a:schemeClr val="dk1"/>
                </a:solidFill>
                <a:latin typeface="Times New Roman"/>
                <a:ea typeface="Times New Roman"/>
                <a:cs typeface="Times New Roman"/>
                <a:sym typeface="Times New Roman"/>
              </a:rPr>
              <a:t>Mahashree T           </a:t>
            </a:r>
            <a:r>
              <a:rPr b="0" i="0" lang="en-IN" sz="2300" u="none" cap="none" strike="noStrike">
                <a:solidFill>
                  <a:schemeClr val="dk1"/>
                </a:solidFill>
                <a:latin typeface="Times New Roman"/>
                <a:ea typeface="Times New Roman"/>
                <a:cs typeface="Times New Roman"/>
                <a:sym typeface="Times New Roman"/>
              </a:rPr>
              <a:t>		(126009</a:t>
            </a:r>
            <a:r>
              <a:rPr lang="en-IN" sz="2300">
                <a:solidFill>
                  <a:schemeClr val="dk1"/>
                </a:solidFill>
                <a:latin typeface="Times New Roman"/>
                <a:ea typeface="Times New Roman"/>
                <a:cs typeface="Times New Roman"/>
                <a:sym typeface="Times New Roman"/>
              </a:rPr>
              <a:t>055</a:t>
            </a:r>
            <a:r>
              <a:rPr b="0" i="0" lang="en-IN" sz="2300" u="none" cap="none" strike="noStrike">
                <a:solidFill>
                  <a:schemeClr val="dk1"/>
                </a:solidFill>
                <a:latin typeface="Times New Roman"/>
                <a:ea typeface="Times New Roman"/>
                <a:cs typeface="Times New Roman"/>
                <a:sym typeface="Times New Roman"/>
              </a:rPr>
              <a:t>)</a:t>
            </a:r>
            <a:endParaRPr/>
          </a:p>
          <a:p>
            <a:pPr indent="0" lvl="0" marL="0" marR="0" rtl="0" algn="l">
              <a:lnSpc>
                <a:spcPct val="150000"/>
              </a:lnSpc>
              <a:spcBef>
                <a:spcPts val="0"/>
              </a:spcBef>
              <a:spcAft>
                <a:spcPts val="0"/>
              </a:spcAft>
              <a:buNone/>
            </a:pPr>
            <a:r>
              <a:rPr lang="en-IN" sz="2300">
                <a:solidFill>
                  <a:schemeClr val="dk1"/>
                </a:solidFill>
                <a:latin typeface="Times New Roman"/>
                <a:ea typeface="Times New Roman"/>
                <a:cs typeface="Times New Roman"/>
                <a:sym typeface="Times New Roman"/>
              </a:rPr>
              <a:t>Reshma P                      </a:t>
            </a:r>
            <a:r>
              <a:rPr b="0" i="0" lang="en-IN" sz="2300" u="none" cap="none" strike="noStrike">
                <a:solidFill>
                  <a:schemeClr val="dk1"/>
                </a:solidFill>
                <a:latin typeface="Times New Roman"/>
                <a:ea typeface="Times New Roman"/>
                <a:cs typeface="Times New Roman"/>
                <a:sym typeface="Times New Roman"/>
              </a:rPr>
              <a:t>	(1260090</a:t>
            </a:r>
            <a:r>
              <a:rPr lang="en-IN" sz="2300">
                <a:solidFill>
                  <a:schemeClr val="dk1"/>
                </a:solidFill>
                <a:latin typeface="Times New Roman"/>
                <a:ea typeface="Times New Roman"/>
                <a:cs typeface="Times New Roman"/>
                <a:sym typeface="Times New Roman"/>
              </a:rPr>
              <a:t>88</a:t>
            </a:r>
            <a:r>
              <a:rPr b="0" i="0" lang="en-IN" sz="2300" u="none" cap="none" strike="noStrike">
                <a:solidFill>
                  <a:schemeClr val="dk1"/>
                </a:solidFill>
                <a:latin typeface="Times New Roman"/>
                <a:ea typeface="Times New Roman"/>
                <a:cs typeface="Times New Roman"/>
                <a:sym typeface="Times New Roman"/>
              </a:rPr>
              <a:t>)</a:t>
            </a:r>
            <a:endParaRPr/>
          </a:p>
        </p:txBody>
      </p:sp>
      <p:sp>
        <p:nvSpPr>
          <p:cNvPr id="93" name="Google Shape;93;p13"/>
          <p:cNvSpPr txBox="1"/>
          <p:nvPr/>
        </p:nvSpPr>
        <p:spPr>
          <a:xfrm>
            <a:off x="132185" y="4012205"/>
            <a:ext cx="5370900" cy="267810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0" i="0" lang="en-IN" sz="2400" u="none" cap="none" strike="noStrike">
                <a:solidFill>
                  <a:schemeClr val="dk1"/>
                </a:solidFill>
                <a:latin typeface="Times New Roman"/>
                <a:ea typeface="Times New Roman"/>
                <a:cs typeface="Times New Roman"/>
                <a:sym typeface="Times New Roman"/>
              </a:rPr>
              <a:t>Guide: </a:t>
            </a:r>
            <a:endParaRPr b="0" i="0" sz="2400" u="none" cap="none" strike="noStrike">
              <a:solidFill>
                <a:schemeClr val="dk1"/>
              </a:solidFill>
              <a:latin typeface="Times New Roman"/>
              <a:ea typeface="Times New Roman"/>
              <a:cs typeface="Times New Roman"/>
              <a:sym typeface="Times New Roman"/>
            </a:endParaRPr>
          </a:p>
          <a:p>
            <a:pPr indent="0" lvl="0" marL="0" marR="0" rtl="0" algn="just">
              <a:lnSpc>
                <a:spcPct val="150000"/>
              </a:lnSpc>
              <a:spcBef>
                <a:spcPts val="0"/>
              </a:spcBef>
              <a:spcAft>
                <a:spcPts val="0"/>
              </a:spcAft>
              <a:buNone/>
            </a:pPr>
            <a:r>
              <a:rPr b="0" i="0" lang="en-IN" sz="2400" u="none" cap="none" strike="noStrike">
                <a:solidFill>
                  <a:schemeClr val="dk1"/>
                </a:solidFill>
                <a:latin typeface="Times New Roman"/>
                <a:ea typeface="Times New Roman"/>
                <a:cs typeface="Times New Roman"/>
                <a:sym typeface="Times New Roman"/>
              </a:rPr>
              <a:t>Dr. </a:t>
            </a:r>
            <a:r>
              <a:rPr lang="en-IN" sz="2400">
                <a:solidFill>
                  <a:schemeClr val="dk1"/>
                </a:solidFill>
                <a:latin typeface="Times New Roman"/>
                <a:ea typeface="Times New Roman"/>
                <a:cs typeface="Times New Roman"/>
                <a:sym typeface="Times New Roman"/>
              </a:rPr>
              <a:t>Maheswaran</a:t>
            </a:r>
            <a:r>
              <a:rPr b="0" i="0" lang="en-IN" sz="2400" u="none" cap="none" strike="noStrike">
                <a:solidFill>
                  <a:schemeClr val="dk1"/>
                </a:solidFill>
                <a:latin typeface="Times New Roman"/>
                <a:ea typeface="Times New Roman"/>
                <a:cs typeface="Times New Roman"/>
                <a:sym typeface="Times New Roman"/>
              </a:rPr>
              <a:t> C B</a:t>
            </a:r>
            <a:endParaRPr b="0" i="0" sz="2400" u="none" cap="none" strike="noStrike">
              <a:solidFill>
                <a:schemeClr val="dk1"/>
              </a:solidFill>
              <a:latin typeface="Times New Roman"/>
              <a:ea typeface="Times New Roman"/>
              <a:cs typeface="Times New Roman"/>
              <a:sym typeface="Times New Roman"/>
            </a:endParaRPr>
          </a:p>
          <a:p>
            <a:pPr indent="0" lvl="0" marL="0" marR="0" rtl="0" algn="just">
              <a:lnSpc>
                <a:spcPct val="150000"/>
              </a:lnSpc>
              <a:spcBef>
                <a:spcPts val="0"/>
              </a:spcBef>
              <a:spcAft>
                <a:spcPts val="0"/>
              </a:spcAft>
              <a:buNone/>
            </a:pPr>
            <a:r>
              <a:rPr b="0" i="0" lang="en-IN" sz="2400" u="none" cap="none" strike="noStrike">
                <a:solidFill>
                  <a:schemeClr val="dk1"/>
                </a:solidFill>
                <a:latin typeface="Times New Roman"/>
                <a:ea typeface="Times New Roman"/>
                <a:cs typeface="Times New Roman"/>
                <a:sym typeface="Times New Roman"/>
              </a:rPr>
              <a:t>Assistant Professor - </a:t>
            </a:r>
            <a:r>
              <a:rPr lang="en-IN" sz="2400">
                <a:solidFill>
                  <a:schemeClr val="dk1"/>
                </a:solidFill>
                <a:latin typeface="Times New Roman"/>
                <a:ea typeface="Times New Roman"/>
                <a:cs typeface="Times New Roman"/>
                <a:sym typeface="Times New Roman"/>
              </a:rPr>
              <a:t>II</a:t>
            </a:r>
            <a:endParaRPr b="0" i="0" sz="2400" u="none" cap="none" strike="noStrike">
              <a:solidFill>
                <a:schemeClr val="dk1"/>
              </a:solidFill>
              <a:latin typeface="Times New Roman"/>
              <a:ea typeface="Times New Roman"/>
              <a:cs typeface="Times New Roman"/>
              <a:sym typeface="Times New Roman"/>
            </a:endParaRPr>
          </a:p>
          <a:p>
            <a:pPr indent="0" lvl="0" marL="0" marR="0" rtl="0" algn="just">
              <a:lnSpc>
                <a:spcPct val="150000"/>
              </a:lnSpc>
              <a:spcBef>
                <a:spcPts val="0"/>
              </a:spcBef>
              <a:spcAft>
                <a:spcPts val="0"/>
              </a:spcAft>
              <a:buNone/>
            </a:pPr>
            <a:r>
              <a:rPr b="0" i="0" lang="en-IN" sz="2400" u="none" cap="none" strike="noStrike">
                <a:solidFill>
                  <a:schemeClr val="dk1"/>
                </a:solidFill>
                <a:latin typeface="Times New Roman"/>
                <a:ea typeface="Times New Roman"/>
                <a:cs typeface="Times New Roman"/>
                <a:sym typeface="Times New Roman"/>
              </a:rPr>
              <a:t>School of Mechanical Engineering</a:t>
            </a:r>
            <a:endParaRPr b="0" i="0" sz="2400" u="none" cap="none" strike="noStrike">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4" name="Google Shape;94;p13"/>
          <p:cNvSpPr txBox="1"/>
          <p:nvPr>
            <p:ph type="ctrTitle"/>
          </p:nvPr>
        </p:nvSpPr>
        <p:spPr>
          <a:xfrm>
            <a:off x="132185" y="2363800"/>
            <a:ext cx="11471700" cy="948900"/>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rgbClr val="7030A0"/>
              </a:buClr>
              <a:buSzPts val="2800"/>
              <a:buFont typeface="Times New Roman"/>
              <a:buNone/>
            </a:pPr>
            <a:br>
              <a:rPr b="1" lang="en-IN" sz="2800">
                <a:solidFill>
                  <a:srgbClr val="7030A0"/>
                </a:solidFill>
                <a:latin typeface="Times New Roman"/>
                <a:ea typeface="Times New Roman"/>
                <a:cs typeface="Times New Roman"/>
                <a:sym typeface="Times New Roman"/>
              </a:rPr>
            </a:br>
            <a:br>
              <a:rPr b="1" lang="en-IN" sz="2800">
                <a:solidFill>
                  <a:srgbClr val="7030A0"/>
                </a:solidFill>
                <a:latin typeface="Times New Roman"/>
                <a:ea typeface="Times New Roman"/>
                <a:cs typeface="Times New Roman"/>
                <a:sym typeface="Times New Roman"/>
              </a:rPr>
            </a:br>
            <a:r>
              <a:rPr b="1" lang="en-IN" sz="2800">
                <a:solidFill>
                  <a:srgbClr val="7030A0"/>
                </a:solidFill>
                <a:latin typeface="Times New Roman"/>
                <a:ea typeface="Times New Roman"/>
                <a:cs typeface="Times New Roman"/>
                <a:sym typeface="Times New Roman"/>
              </a:rPr>
              <a:t>MECHANICAL AND METALLURGICAL CHARACTERIZATION OF WIRE ARC ADDITIVE MANUFACTURED SS316L </a:t>
            </a:r>
            <a:endParaRPr/>
          </a:p>
        </p:txBody>
      </p:sp>
      <p:sp>
        <p:nvSpPr>
          <p:cNvPr id="95" name="Google Shape;95;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4"/>
          <p:cNvSpPr txBox="1"/>
          <p:nvPr>
            <p:ph type="title"/>
          </p:nvPr>
        </p:nvSpPr>
        <p:spPr>
          <a:xfrm>
            <a:off x="398600" y="183152"/>
            <a:ext cx="10515600" cy="7125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0000"/>
              </a:buClr>
              <a:buSzPts val="4400"/>
              <a:buFont typeface="Times New Roman"/>
              <a:buNone/>
            </a:pPr>
            <a:r>
              <a:rPr lang="en-IN" sz="3200">
                <a:solidFill>
                  <a:srgbClr val="FF0000"/>
                </a:solidFill>
                <a:latin typeface="Times New Roman"/>
                <a:ea typeface="Times New Roman"/>
                <a:cs typeface="Times New Roman"/>
                <a:sym typeface="Times New Roman"/>
              </a:rPr>
              <a:t>ABSTRACT</a:t>
            </a:r>
            <a:endParaRPr sz="3200"/>
          </a:p>
        </p:txBody>
      </p:sp>
      <p:sp>
        <p:nvSpPr>
          <p:cNvPr id="101" name="Google Shape;101;p14"/>
          <p:cNvSpPr txBox="1"/>
          <p:nvPr>
            <p:ph idx="1" type="body"/>
          </p:nvPr>
        </p:nvSpPr>
        <p:spPr>
          <a:xfrm>
            <a:off x="310250" y="804150"/>
            <a:ext cx="11674800" cy="5825400"/>
          </a:xfrm>
          <a:prstGeom prst="rect">
            <a:avLst/>
          </a:prstGeom>
          <a:noFill/>
          <a:ln>
            <a:noFill/>
          </a:ln>
        </p:spPr>
        <p:txBody>
          <a:bodyPr anchorCtr="0" anchor="t" bIns="45700" lIns="91425" spcFirstLastPara="1" rIns="91425" wrap="square" tIns="45700">
            <a:noAutofit/>
          </a:bodyPr>
          <a:lstStyle/>
          <a:p>
            <a:pPr indent="-361950" lvl="0" marL="457200" rtl="0" algn="just">
              <a:lnSpc>
                <a:spcPct val="115000"/>
              </a:lnSpc>
              <a:spcBef>
                <a:spcPts val="1200"/>
              </a:spcBef>
              <a:spcAft>
                <a:spcPts val="0"/>
              </a:spcAft>
              <a:buSzPts val="2100"/>
              <a:buChar char="•"/>
            </a:pPr>
            <a:r>
              <a:rPr lang="en-IN" sz="2100">
                <a:latin typeface="Arial"/>
                <a:ea typeface="Arial"/>
                <a:cs typeface="Arial"/>
                <a:sym typeface="Arial"/>
              </a:rPr>
              <a:t>Wire Arc Additive Manufacturing (WAAM) is a Direct Energy Deposition process capable of producing large-scale metallic components with high deposition rates and reduced material wastage. SS316L stainless steel is widely used in structural and industrial applications due to its excellent strength, corrosion resistance, and weldability. However, the repeated thermal cycles involved in the WAAM process significantly influence microstructure evolution and mechanical properties.</a:t>
            </a:r>
            <a:endParaRPr sz="2100">
              <a:latin typeface="Arial"/>
              <a:ea typeface="Arial"/>
              <a:cs typeface="Arial"/>
              <a:sym typeface="Arial"/>
            </a:endParaRPr>
          </a:p>
          <a:p>
            <a:pPr indent="-361950" lvl="0" marL="457200" rtl="0" algn="just">
              <a:lnSpc>
                <a:spcPct val="115000"/>
              </a:lnSpc>
              <a:spcBef>
                <a:spcPts val="0"/>
              </a:spcBef>
              <a:spcAft>
                <a:spcPts val="0"/>
              </a:spcAft>
              <a:buSzPts val="2100"/>
              <a:buChar char="•"/>
            </a:pPr>
            <a:r>
              <a:rPr lang="en-IN" sz="2100">
                <a:latin typeface="Arial"/>
                <a:ea typeface="Arial"/>
                <a:cs typeface="Arial"/>
                <a:sym typeface="Arial"/>
              </a:rPr>
              <a:t>In this study, SS316L was fabricated using a MIG-based WAAM system. Initial welding trials were conducted by varying current, voltage, and welding speed to identify optimal parameters that ensured stable arc conditions, maximum deposition efficiency, minimum spatter, and defect-free layer formation.A multi-layer wall was successfully fabricated using the selected parameters.</a:t>
            </a:r>
            <a:endParaRPr sz="2100">
              <a:latin typeface="Arial"/>
              <a:ea typeface="Arial"/>
              <a:cs typeface="Arial"/>
              <a:sym typeface="Arial"/>
            </a:endParaRPr>
          </a:p>
          <a:p>
            <a:pPr indent="-361950" lvl="0" marL="457200" rtl="0" algn="just">
              <a:lnSpc>
                <a:spcPct val="115000"/>
              </a:lnSpc>
              <a:spcBef>
                <a:spcPts val="0"/>
              </a:spcBef>
              <a:spcAft>
                <a:spcPts val="0"/>
              </a:spcAft>
              <a:buSzPts val="2100"/>
              <a:buChar char="•"/>
            </a:pPr>
            <a:r>
              <a:rPr lang="en-IN" sz="2100">
                <a:latin typeface="Arial"/>
                <a:ea typeface="Arial"/>
                <a:cs typeface="Arial"/>
                <a:sym typeface="Arial"/>
              </a:rPr>
              <a:t>Mechanical testing including tensile, impact, and hardness tests is currently in progress to evaluate material performance. Metallurgical characterization using EBSD will be carried out to analyze grain structure and crystallographic orientation. The study aims to establish a correlation between process parameters, microstructure, and mechanical properties to assess the suitability of WAAM-fabricated SS316L for structural applications.</a:t>
            </a:r>
            <a:endParaRPr sz="2100">
              <a:latin typeface="Arial"/>
              <a:ea typeface="Arial"/>
              <a:cs typeface="Arial"/>
              <a:sym typeface="Arial"/>
            </a:endParaRPr>
          </a:p>
          <a:p>
            <a:pPr indent="0" lvl="0" marL="228600" rtl="0" algn="just">
              <a:lnSpc>
                <a:spcPct val="150000"/>
              </a:lnSpc>
              <a:spcBef>
                <a:spcPts val="1200"/>
              </a:spcBef>
              <a:spcAft>
                <a:spcPts val="0"/>
              </a:spcAft>
              <a:buNone/>
            </a:pPr>
            <a:r>
              <a:t/>
            </a:r>
            <a:endParaRPr sz="2200">
              <a:latin typeface="Times New Roman"/>
              <a:ea typeface="Times New Roman"/>
              <a:cs typeface="Times New Roman"/>
              <a:sym typeface="Times New Roman"/>
            </a:endParaRPr>
          </a:p>
        </p:txBody>
      </p:sp>
      <p:sp>
        <p:nvSpPr>
          <p:cNvPr id="102" name="Google Shape;102;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1">
                                            <p:txEl>
                                              <p:pRg end="0" st="0"/>
                                            </p:txEl>
                                          </p:spTgt>
                                        </p:tgtEl>
                                        <p:attrNameLst>
                                          <p:attrName>style.visibility</p:attrName>
                                        </p:attrNameLst>
                                      </p:cBhvr>
                                      <p:to>
                                        <p:strVal val="visible"/>
                                      </p:to>
                                    </p:set>
                                    <p:anim calcmode="lin" valueType="num">
                                      <p:cBhvr additive="base">
                                        <p:cTn dur="500"/>
                                        <p:tgtEl>
                                          <p:spTgt spid="101">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1">
                                            <p:txEl>
                                              <p:pRg end="1" st="1"/>
                                            </p:txEl>
                                          </p:spTgt>
                                        </p:tgtEl>
                                        <p:attrNameLst>
                                          <p:attrName>style.visibility</p:attrName>
                                        </p:attrNameLst>
                                      </p:cBhvr>
                                      <p:to>
                                        <p:strVal val="visible"/>
                                      </p:to>
                                    </p:set>
                                    <p:anim calcmode="lin" valueType="num">
                                      <p:cBhvr additive="base">
                                        <p:cTn dur="500"/>
                                        <p:tgtEl>
                                          <p:spTgt spid="101">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1">
                                            <p:txEl>
                                              <p:pRg end="2" st="2"/>
                                            </p:txEl>
                                          </p:spTgt>
                                        </p:tgtEl>
                                        <p:attrNameLst>
                                          <p:attrName>style.visibility</p:attrName>
                                        </p:attrNameLst>
                                      </p:cBhvr>
                                      <p:to>
                                        <p:strVal val="visible"/>
                                      </p:to>
                                    </p:set>
                                    <p:anim calcmode="lin" valueType="num">
                                      <p:cBhvr additive="base">
                                        <p:cTn dur="500"/>
                                        <p:tgtEl>
                                          <p:spTgt spid="101">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1">
                                            <p:txEl>
                                              <p:pRg end="3" st="3"/>
                                            </p:txEl>
                                          </p:spTgt>
                                        </p:tgtEl>
                                        <p:attrNameLst>
                                          <p:attrName>style.visibility</p:attrName>
                                        </p:attrNameLst>
                                      </p:cBhvr>
                                      <p:to>
                                        <p:strVal val="visible"/>
                                      </p:to>
                                    </p:set>
                                    <p:anim calcmode="lin" valueType="num">
                                      <p:cBhvr additive="base">
                                        <p:cTn dur="500"/>
                                        <p:tgtEl>
                                          <p:spTgt spid="101">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5"/>
          <p:cNvSpPr txBox="1"/>
          <p:nvPr>
            <p:ph type="title"/>
          </p:nvPr>
        </p:nvSpPr>
        <p:spPr>
          <a:xfrm>
            <a:off x="838200" y="117700"/>
            <a:ext cx="10515600" cy="6450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0000"/>
              </a:buClr>
              <a:buSzPts val="4400"/>
              <a:buFont typeface="Times New Roman"/>
              <a:buNone/>
            </a:pPr>
            <a:r>
              <a:rPr lang="en-IN" sz="3200">
                <a:solidFill>
                  <a:srgbClr val="FF0000"/>
                </a:solidFill>
                <a:latin typeface="Times New Roman"/>
                <a:ea typeface="Times New Roman"/>
                <a:cs typeface="Times New Roman"/>
                <a:sym typeface="Times New Roman"/>
              </a:rPr>
              <a:t>OBJECTIVE</a:t>
            </a:r>
            <a:endParaRPr sz="3200"/>
          </a:p>
        </p:txBody>
      </p:sp>
      <p:sp>
        <p:nvSpPr>
          <p:cNvPr id="108" name="Google Shape;108;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109" name="Google Shape;109;p15"/>
          <p:cNvSpPr txBox="1"/>
          <p:nvPr/>
        </p:nvSpPr>
        <p:spPr>
          <a:xfrm>
            <a:off x="470025" y="762700"/>
            <a:ext cx="11097300" cy="6095400"/>
          </a:xfrm>
          <a:prstGeom prst="rect">
            <a:avLst/>
          </a:prstGeom>
          <a:noFill/>
          <a:ln>
            <a:noFill/>
          </a:ln>
        </p:spPr>
        <p:txBody>
          <a:bodyPr anchorCtr="0" anchor="t" bIns="91425" lIns="91425" spcFirstLastPara="1" rIns="91425" wrap="square" tIns="91425">
            <a:spAutoFit/>
          </a:bodyPr>
          <a:lstStyle/>
          <a:p>
            <a:pPr indent="-361950" lvl="0" marL="457200" rtl="0" algn="l">
              <a:spcBef>
                <a:spcPts val="0"/>
              </a:spcBef>
              <a:spcAft>
                <a:spcPts val="0"/>
              </a:spcAft>
              <a:buClr>
                <a:schemeClr val="dk1"/>
              </a:buClr>
              <a:buSzPts val="2100"/>
              <a:buChar char="●"/>
            </a:pPr>
            <a:r>
              <a:rPr lang="en-IN" sz="2100">
                <a:solidFill>
                  <a:schemeClr val="dk1"/>
                </a:solidFill>
              </a:rPr>
              <a:t>To fabricate SS316L using a MIG-based Wire Arc Additive Manufacturing (WAAM) process.</a:t>
            </a:r>
            <a:br>
              <a:rPr lang="en-IN" sz="2100">
                <a:solidFill>
                  <a:schemeClr val="dk1"/>
                </a:solidFill>
              </a:rPr>
            </a:br>
            <a:endParaRPr sz="2100">
              <a:solidFill>
                <a:schemeClr val="dk1"/>
              </a:solidFill>
            </a:endParaRPr>
          </a:p>
          <a:p>
            <a:pPr indent="-361950" lvl="0" marL="457200" rtl="0" algn="l">
              <a:spcBef>
                <a:spcPts val="0"/>
              </a:spcBef>
              <a:spcAft>
                <a:spcPts val="0"/>
              </a:spcAft>
              <a:buClr>
                <a:schemeClr val="dk1"/>
              </a:buClr>
              <a:buSzPts val="2100"/>
              <a:buChar char="●"/>
            </a:pPr>
            <a:r>
              <a:rPr lang="en-IN" sz="2100">
                <a:solidFill>
                  <a:schemeClr val="dk1"/>
                </a:solidFill>
              </a:rPr>
              <a:t>To optimize welding parameters (current, voltage, and welding speed) through initial trial runs for stable deposition and minimum spatter.</a:t>
            </a:r>
            <a:endParaRPr sz="2100">
              <a:solidFill>
                <a:schemeClr val="dk1"/>
              </a:solidFill>
            </a:endParaRPr>
          </a:p>
          <a:p>
            <a:pPr indent="0" lvl="0" marL="0" rtl="0" algn="l">
              <a:spcBef>
                <a:spcPts val="0"/>
              </a:spcBef>
              <a:spcAft>
                <a:spcPts val="0"/>
              </a:spcAft>
              <a:buNone/>
            </a:pPr>
            <a:r>
              <a:t/>
            </a:r>
            <a:endParaRPr sz="2100">
              <a:solidFill>
                <a:schemeClr val="dk1"/>
              </a:solidFill>
            </a:endParaRPr>
          </a:p>
          <a:p>
            <a:pPr indent="-361950" lvl="0" marL="457200" rtl="0" algn="l">
              <a:spcBef>
                <a:spcPts val="0"/>
              </a:spcBef>
              <a:spcAft>
                <a:spcPts val="0"/>
              </a:spcAft>
              <a:buClr>
                <a:schemeClr val="dk1"/>
              </a:buClr>
              <a:buSzPts val="2100"/>
              <a:buChar char="●"/>
            </a:pPr>
            <a:r>
              <a:rPr lang="en-IN" sz="2100">
                <a:solidFill>
                  <a:schemeClr val="dk1"/>
                </a:solidFill>
              </a:rPr>
              <a:t>To build a multi-layer SS316L wall using the optimized parameters.</a:t>
            </a:r>
            <a:br>
              <a:rPr lang="en-IN" sz="2100">
                <a:solidFill>
                  <a:schemeClr val="dk1"/>
                </a:solidFill>
              </a:rPr>
            </a:br>
            <a:endParaRPr sz="2100">
              <a:solidFill>
                <a:schemeClr val="dk1"/>
              </a:solidFill>
            </a:endParaRPr>
          </a:p>
          <a:p>
            <a:pPr indent="-361950" lvl="0" marL="457200" rtl="0" algn="l">
              <a:spcBef>
                <a:spcPts val="0"/>
              </a:spcBef>
              <a:spcAft>
                <a:spcPts val="0"/>
              </a:spcAft>
              <a:buClr>
                <a:schemeClr val="dk1"/>
              </a:buClr>
              <a:buSzPts val="2100"/>
              <a:buChar char="●"/>
            </a:pPr>
            <a:r>
              <a:rPr lang="en-IN" sz="2100">
                <a:solidFill>
                  <a:schemeClr val="dk1"/>
                </a:solidFill>
              </a:rPr>
              <a:t>To evaluate the mechanical properties through tensile, impact, and hardness testing.</a:t>
            </a:r>
            <a:br>
              <a:rPr lang="en-IN" sz="2100">
                <a:solidFill>
                  <a:schemeClr val="dk1"/>
                </a:solidFill>
              </a:rPr>
            </a:br>
            <a:endParaRPr sz="2100">
              <a:solidFill>
                <a:schemeClr val="dk1"/>
              </a:solidFill>
            </a:endParaRPr>
          </a:p>
          <a:p>
            <a:pPr indent="-361950" lvl="0" marL="457200" rtl="0" algn="l">
              <a:spcBef>
                <a:spcPts val="0"/>
              </a:spcBef>
              <a:spcAft>
                <a:spcPts val="0"/>
              </a:spcAft>
              <a:buClr>
                <a:schemeClr val="dk1"/>
              </a:buClr>
              <a:buSzPts val="2100"/>
              <a:buChar char="●"/>
            </a:pPr>
            <a:r>
              <a:rPr lang="en-IN" sz="2100">
                <a:solidFill>
                  <a:schemeClr val="dk1"/>
                </a:solidFill>
              </a:rPr>
              <a:t>To perform metallurgical characterization using EBSD to analyze grain structure and crystallographic orientation.</a:t>
            </a:r>
            <a:br>
              <a:rPr lang="en-IN" sz="2100">
                <a:solidFill>
                  <a:schemeClr val="dk1"/>
                </a:solidFill>
              </a:rPr>
            </a:br>
            <a:endParaRPr sz="2100">
              <a:solidFill>
                <a:schemeClr val="dk1"/>
              </a:solidFill>
            </a:endParaRPr>
          </a:p>
          <a:p>
            <a:pPr indent="-361950" lvl="0" marL="457200" rtl="0" algn="l">
              <a:spcBef>
                <a:spcPts val="0"/>
              </a:spcBef>
              <a:spcAft>
                <a:spcPts val="0"/>
              </a:spcAft>
              <a:buClr>
                <a:schemeClr val="dk1"/>
              </a:buClr>
              <a:buSzPts val="2100"/>
              <a:buChar char="●"/>
            </a:pPr>
            <a:r>
              <a:rPr lang="en-IN" sz="2100">
                <a:solidFill>
                  <a:schemeClr val="dk1"/>
                </a:solidFill>
              </a:rPr>
              <a:t>To establish a correlation between process parameters, microstructure, and mechanical properties.</a:t>
            </a:r>
            <a:endParaRPr sz="2100">
              <a:solidFill>
                <a:schemeClr val="dk1"/>
              </a:solidFill>
            </a:endParaRPr>
          </a:p>
          <a:p>
            <a:pPr indent="0" lvl="0" marL="457200" rtl="0" algn="l">
              <a:spcBef>
                <a:spcPts val="0"/>
              </a:spcBef>
              <a:spcAft>
                <a:spcPts val="0"/>
              </a:spcAft>
              <a:buNone/>
            </a:pPr>
            <a:r>
              <a:t/>
            </a:r>
            <a:endParaRPr sz="2100">
              <a:solidFill>
                <a:schemeClr val="dk1"/>
              </a:solidFill>
            </a:endParaRPr>
          </a:p>
          <a:p>
            <a:pPr indent="0" lvl="0" marL="457200" rtl="0" algn="l">
              <a:spcBef>
                <a:spcPts val="0"/>
              </a:spcBef>
              <a:spcAft>
                <a:spcPts val="0"/>
              </a:spcAft>
              <a:buNone/>
            </a:pPr>
            <a:r>
              <a:t/>
            </a:r>
            <a:endParaRPr sz="2000">
              <a:solidFill>
                <a:schemeClr val="dk1"/>
              </a:solidFill>
            </a:endParaRPr>
          </a:p>
          <a:p>
            <a:pPr indent="0" lvl="0" marL="0" rtl="0" algn="l">
              <a:spcBef>
                <a:spcPts val="0"/>
              </a:spcBef>
              <a:spcAft>
                <a:spcPts val="0"/>
              </a:spcAft>
              <a:buNone/>
            </a:pPr>
            <a:r>
              <a:t/>
            </a:r>
            <a:endParaRPr sz="28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6"/>
          <p:cNvSpPr txBox="1"/>
          <p:nvPr/>
        </p:nvSpPr>
        <p:spPr>
          <a:xfrm>
            <a:off x="1972733" y="93133"/>
            <a:ext cx="8034900" cy="585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IN" sz="3200">
                <a:solidFill>
                  <a:srgbClr val="FF0000"/>
                </a:solidFill>
                <a:latin typeface="Times New Roman"/>
                <a:ea typeface="Times New Roman"/>
                <a:cs typeface="Times New Roman"/>
                <a:sym typeface="Times New Roman"/>
              </a:rPr>
              <a:t>ABOUT WAAM </a:t>
            </a:r>
            <a:endParaRPr sz="3200">
              <a:solidFill>
                <a:srgbClr val="FF0000"/>
              </a:solidFill>
              <a:latin typeface="Times New Roman"/>
              <a:ea typeface="Times New Roman"/>
              <a:cs typeface="Times New Roman"/>
              <a:sym typeface="Times New Roman"/>
            </a:endParaRPr>
          </a:p>
        </p:txBody>
      </p:sp>
      <p:sp>
        <p:nvSpPr>
          <p:cNvPr id="115" name="Google Shape;115;p16"/>
          <p:cNvSpPr txBox="1"/>
          <p:nvPr/>
        </p:nvSpPr>
        <p:spPr>
          <a:xfrm>
            <a:off x="368299" y="739464"/>
            <a:ext cx="11243700" cy="466380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IN" sz="2700">
                <a:solidFill>
                  <a:schemeClr val="dk1"/>
                </a:solidFill>
                <a:latin typeface="Times New Roman"/>
                <a:ea typeface="Times New Roman"/>
                <a:cs typeface="Times New Roman"/>
                <a:sym typeface="Times New Roman"/>
              </a:rPr>
              <a:t>Wire Arc Additive Manufacturing (WAAM) is a metal additive manufacturing technique that employs an electric arc as the heat source and a metal wire as the material to additively </a:t>
            </a:r>
            <a:r>
              <a:rPr lang="en-IN" sz="2700">
                <a:solidFill>
                  <a:schemeClr val="dk1"/>
                </a:solidFill>
                <a:latin typeface="Times New Roman"/>
                <a:ea typeface="Times New Roman"/>
                <a:cs typeface="Times New Roman"/>
                <a:sym typeface="Times New Roman"/>
              </a:rPr>
              <a:t>manufactured</a:t>
            </a:r>
            <a:r>
              <a:rPr lang="en-IN" sz="2700">
                <a:solidFill>
                  <a:schemeClr val="dk1"/>
                </a:solidFill>
                <a:latin typeface="Times New Roman"/>
                <a:ea typeface="Times New Roman"/>
                <a:cs typeface="Times New Roman"/>
                <a:sym typeface="Times New Roman"/>
              </a:rPr>
              <a:t> components layer by layer. WAAM is a cost-effective technique that has been developed from conventional arc welding processes like GTAW and GMAW. WAAM has a high deposition rate, improved material efficiency, and lower waste generation compared to conventional machining and powder-based additive manufacturing techniques. SS316L is particularly well-suited for WAAM due to its excellent weldability, low carbon content, and high corrosion resistance. In this research project, SS316L components are manufactured by WAAM and tested for their mechanical properties (tensile strength, impact resistanc</a:t>
            </a:r>
            <a:r>
              <a:rPr lang="en-IN" sz="2700">
                <a:solidFill>
                  <a:srgbClr val="374151"/>
                </a:solidFill>
                <a:latin typeface="Times New Roman"/>
                <a:ea typeface="Times New Roman"/>
                <a:cs typeface="Times New Roman"/>
                <a:sym typeface="Times New Roman"/>
              </a:rPr>
              <a:t>e, hardness)</a:t>
            </a:r>
            <a:endParaRPr sz="2700">
              <a:solidFill>
                <a:schemeClr val="dk1"/>
              </a:solidFill>
              <a:latin typeface="Times New Roman"/>
              <a:ea typeface="Times New Roman"/>
              <a:cs typeface="Times New Roman"/>
              <a:sym typeface="Times New Roman"/>
            </a:endParaRPr>
          </a:p>
        </p:txBody>
      </p:sp>
      <p:sp>
        <p:nvSpPr>
          <p:cNvPr id="116" name="Google Shape;116;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7"/>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
        <p:nvSpPr>
          <p:cNvPr id="123" name="Google Shape;123;p17"/>
          <p:cNvSpPr txBox="1"/>
          <p:nvPr/>
        </p:nvSpPr>
        <p:spPr>
          <a:xfrm>
            <a:off x="0" y="109900"/>
            <a:ext cx="119181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IN" sz="3200">
                <a:solidFill>
                  <a:srgbClr val="FF0000"/>
                </a:solidFill>
                <a:latin typeface="Times New Roman"/>
                <a:ea typeface="Times New Roman"/>
                <a:cs typeface="Times New Roman"/>
                <a:sym typeface="Times New Roman"/>
              </a:rPr>
              <a:t>ABOUT SS316L </a:t>
            </a:r>
            <a:endParaRPr sz="3200">
              <a:solidFill>
                <a:srgbClr val="FF0000"/>
              </a:solidFill>
              <a:latin typeface="Times New Roman"/>
              <a:ea typeface="Times New Roman"/>
              <a:cs typeface="Times New Roman"/>
              <a:sym typeface="Times New Roman"/>
            </a:endParaRPr>
          </a:p>
        </p:txBody>
      </p:sp>
      <p:sp>
        <p:nvSpPr>
          <p:cNvPr id="124" name="Google Shape;124;p17"/>
          <p:cNvSpPr txBox="1"/>
          <p:nvPr/>
        </p:nvSpPr>
        <p:spPr>
          <a:xfrm>
            <a:off x="589200" y="787000"/>
            <a:ext cx="11430000" cy="58509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lang="en-IN" sz="2700">
                <a:solidFill>
                  <a:schemeClr val="dk1"/>
                </a:solidFill>
                <a:latin typeface="Times New Roman"/>
                <a:ea typeface="Times New Roman"/>
                <a:cs typeface="Times New Roman"/>
                <a:sym typeface="Times New Roman"/>
              </a:rPr>
              <a:t>SS316L is an austenitic stainless steel alloy that has low carbon content, denoted by “L” in “SS316L.” It is resistant to corrosion, particularly in a marine and chemical environment, and has good strength, ductility, and weldability. SS316L was selected for the study because it is commonly used in industrial applications, has good compatibility with welding-based processes such as WAAM, and has low chances of carbide precipitation and cracking due to its low carbon content. SS316L has a stable microstructure that is ideal for analyzing the mechanical properties of tensile strength, impact toughness, hardness, and detailed analysis of the grain structure using EBSD.</a:t>
            </a:r>
            <a:endParaRPr sz="2700">
              <a:solidFill>
                <a:schemeClr val="dk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18"/>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graphicFrame>
        <p:nvGraphicFramePr>
          <p:cNvPr id="131" name="Google Shape;131;p18"/>
          <p:cNvGraphicFramePr/>
          <p:nvPr/>
        </p:nvGraphicFramePr>
        <p:xfrm>
          <a:off x="405975" y="877225"/>
          <a:ext cx="3000000" cy="3000000"/>
        </p:xfrm>
        <a:graphic>
          <a:graphicData uri="http://schemas.openxmlformats.org/drawingml/2006/table">
            <a:tbl>
              <a:tblPr>
                <a:noFill/>
                <a:tableStyleId>{59E93DEC-B814-473E-B6FB-395829DA1DCD}</a:tableStyleId>
              </a:tblPr>
              <a:tblGrid>
                <a:gridCol w="4201950"/>
                <a:gridCol w="3624300"/>
                <a:gridCol w="3624300"/>
              </a:tblGrid>
              <a:tr h="545875">
                <a:tc>
                  <a:txBody>
                    <a:bodyPr/>
                    <a:lstStyle/>
                    <a:p>
                      <a:pPr indent="0" lvl="0" marL="0" rtl="0" algn="ctr">
                        <a:lnSpc>
                          <a:spcPct val="115000"/>
                        </a:lnSpc>
                        <a:spcBef>
                          <a:spcPts val="0"/>
                        </a:spcBef>
                        <a:spcAft>
                          <a:spcPts val="0"/>
                        </a:spcAft>
                        <a:buNone/>
                      </a:pPr>
                      <a:r>
                        <a:rPr b="1" lang="en-IN" sz="2300"/>
                        <a:t>PROPERTY</a:t>
                      </a:r>
                      <a:endParaRPr b="1" sz="2300"/>
                    </a:p>
                  </a:txBody>
                  <a:tcPr marT="91425" marB="91425" marR="91425" marL="91425"/>
                </a:tc>
                <a:tc>
                  <a:txBody>
                    <a:bodyPr/>
                    <a:lstStyle/>
                    <a:p>
                      <a:pPr indent="0" lvl="0" marL="0" rtl="0" algn="ctr">
                        <a:spcBef>
                          <a:spcPts val="0"/>
                        </a:spcBef>
                        <a:spcAft>
                          <a:spcPts val="0"/>
                        </a:spcAft>
                        <a:buNone/>
                      </a:pPr>
                      <a:r>
                        <a:rPr b="1" lang="en-IN" sz="2300"/>
                        <a:t>UNITS</a:t>
                      </a:r>
                      <a:endParaRPr b="1" sz="2300"/>
                    </a:p>
                  </a:txBody>
                  <a:tcPr marT="91425" marB="91425" marR="91425" marL="91425"/>
                </a:tc>
                <a:tc>
                  <a:txBody>
                    <a:bodyPr/>
                    <a:lstStyle/>
                    <a:p>
                      <a:pPr indent="0" lvl="0" marL="0" rtl="0" algn="ctr">
                        <a:spcBef>
                          <a:spcPts val="0"/>
                        </a:spcBef>
                        <a:spcAft>
                          <a:spcPts val="0"/>
                        </a:spcAft>
                        <a:buNone/>
                      </a:pPr>
                      <a:r>
                        <a:rPr b="1" lang="en-IN" sz="2300"/>
                        <a:t>SS316L Value</a:t>
                      </a:r>
                      <a:endParaRPr b="1" sz="2300"/>
                    </a:p>
                  </a:txBody>
                  <a:tcPr marT="91425" marB="91425" marR="91425" marL="91425"/>
                </a:tc>
              </a:tr>
              <a:tr h="637650">
                <a:tc>
                  <a:txBody>
                    <a:bodyPr/>
                    <a:lstStyle/>
                    <a:p>
                      <a:pPr indent="0" lvl="0" marL="0" rtl="0" algn="l">
                        <a:spcBef>
                          <a:spcPts val="0"/>
                        </a:spcBef>
                        <a:spcAft>
                          <a:spcPts val="0"/>
                        </a:spcAft>
                        <a:buNone/>
                      </a:pPr>
                      <a:r>
                        <a:rPr lang="en-IN" sz="2000"/>
                        <a:t>Density</a:t>
                      </a:r>
                      <a:endParaRPr sz="2000"/>
                    </a:p>
                  </a:txBody>
                  <a:tcPr marT="91425" marB="91425" marR="91425" marL="91425"/>
                </a:tc>
                <a:tc>
                  <a:txBody>
                    <a:bodyPr/>
                    <a:lstStyle/>
                    <a:p>
                      <a:pPr indent="0" lvl="0" marL="0" rtl="0" algn="ctr">
                        <a:spcBef>
                          <a:spcPts val="0"/>
                        </a:spcBef>
                        <a:spcAft>
                          <a:spcPts val="0"/>
                        </a:spcAft>
                        <a:buNone/>
                      </a:pPr>
                      <a:r>
                        <a:rPr lang="en-IN" sz="2000"/>
                        <a:t>kg/m^3</a:t>
                      </a:r>
                      <a:endParaRPr sz="2000"/>
                    </a:p>
                  </a:txBody>
                  <a:tcPr marT="91425" marB="91425" marR="91425" marL="91425"/>
                </a:tc>
                <a:tc>
                  <a:txBody>
                    <a:bodyPr/>
                    <a:lstStyle/>
                    <a:p>
                      <a:pPr indent="0" lvl="0" marL="0" rtl="0" algn="ctr">
                        <a:spcBef>
                          <a:spcPts val="0"/>
                        </a:spcBef>
                        <a:spcAft>
                          <a:spcPts val="0"/>
                        </a:spcAft>
                        <a:buNone/>
                      </a:pPr>
                      <a:r>
                        <a:rPr lang="en-IN" sz="2000"/>
                        <a:t>8000</a:t>
                      </a:r>
                      <a:endParaRPr sz="2000"/>
                    </a:p>
                  </a:txBody>
                  <a:tcPr marT="91425" marB="91425" marR="91425" marL="91425"/>
                </a:tc>
              </a:tr>
              <a:tr h="637650">
                <a:tc>
                  <a:txBody>
                    <a:bodyPr/>
                    <a:lstStyle/>
                    <a:p>
                      <a:pPr indent="0" lvl="0" marL="0" rtl="0" algn="l">
                        <a:spcBef>
                          <a:spcPts val="0"/>
                        </a:spcBef>
                        <a:spcAft>
                          <a:spcPts val="0"/>
                        </a:spcAft>
                        <a:buNone/>
                      </a:pPr>
                      <a:r>
                        <a:rPr lang="en-IN" sz="2000"/>
                        <a:t>Elastic Modulus</a:t>
                      </a:r>
                      <a:endParaRPr sz="2000"/>
                    </a:p>
                  </a:txBody>
                  <a:tcPr marT="91425" marB="91425" marR="91425" marL="91425"/>
                </a:tc>
                <a:tc>
                  <a:txBody>
                    <a:bodyPr/>
                    <a:lstStyle/>
                    <a:p>
                      <a:pPr indent="0" lvl="0" marL="0" rtl="0" algn="ctr">
                        <a:spcBef>
                          <a:spcPts val="0"/>
                        </a:spcBef>
                        <a:spcAft>
                          <a:spcPts val="0"/>
                        </a:spcAft>
                        <a:buNone/>
                      </a:pPr>
                      <a:r>
                        <a:rPr lang="en-IN" sz="2000"/>
                        <a:t>GPa</a:t>
                      </a:r>
                      <a:endParaRPr sz="2000"/>
                    </a:p>
                  </a:txBody>
                  <a:tcPr marT="91425" marB="91425" marR="91425" marL="91425"/>
                </a:tc>
                <a:tc>
                  <a:txBody>
                    <a:bodyPr/>
                    <a:lstStyle/>
                    <a:p>
                      <a:pPr indent="0" lvl="0" marL="0" rtl="0" algn="ctr">
                        <a:spcBef>
                          <a:spcPts val="0"/>
                        </a:spcBef>
                        <a:spcAft>
                          <a:spcPts val="0"/>
                        </a:spcAft>
                        <a:buNone/>
                      </a:pPr>
                      <a:r>
                        <a:rPr lang="en-IN" sz="2000"/>
                        <a:t>193</a:t>
                      </a:r>
                      <a:endParaRPr sz="2000"/>
                    </a:p>
                  </a:txBody>
                  <a:tcPr marT="91425" marB="91425" marR="91425" marL="91425"/>
                </a:tc>
              </a:tr>
              <a:tr h="637650">
                <a:tc>
                  <a:txBody>
                    <a:bodyPr/>
                    <a:lstStyle/>
                    <a:p>
                      <a:pPr indent="0" lvl="0" marL="0" rtl="0" algn="l">
                        <a:spcBef>
                          <a:spcPts val="0"/>
                        </a:spcBef>
                        <a:spcAft>
                          <a:spcPts val="0"/>
                        </a:spcAft>
                        <a:buNone/>
                      </a:pPr>
                      <a:r>
                        <a:rPr lang="en-IN" sz="2000"/>
                        <a:t>Thermal Conductivity</a:t>
                      </a:r>
                      <a:endParaRPr sz="2000"/>
                    </a:p>
                  </a:txBody>
                  <a:tcPr marT="91425" marB="91425" marR="91425" marL="91425"/>
                </a:tc>
                <a:tc>
                  <a:txBody>
                    <a:bodyPr/>
                    <a:lstStyle/>
                    <a:p>
                      <a:pPr indent="0" lvl="0" marL="0" rtl="0" algn="ctr">
                        <a:spcBef>
                          <a:spcPts val="0"/>
                        </a:spcBef>
                        <a:spcAft>
                          <a:spcPts val="0"/>
                        </a:spcAft>
                        <a:buNone/>
                      </a:pPr>
                      <a:r>
                        <a:rPr lang="en-IN" sz="2000"/>
                        <a:t>W/m.k</a:t>
                      </a:r>
                      <a:endParaRPr sz="2000"/>
                    </a:p>
                  </a:txBody>
                  <a:tcPr marT="91425" marB="91425" marR="91425" marL="91425"/>
                </a:tc>
                <a:tc>
                  <a:txBody>
                    <a:bodyPr/>
                    <a:lstStyle/>
                    <a:p>
                      <a:pPr indent="0" lvl="0" marL="0" rtl="0" algn="ctr">
                        <a:spcBef>
                          <a:spcPts val="0"/>
                        </a:spcBef>
                        <a:spcAft>
                          <a:spcPts val="0"/>
                        </a:spcAft>
                        <a:buNone/>
                      </a:pPr>
                      <a:r>
                        <a:rPr lang="en-IN" sz="2000"/>
                        <a:t>16.3 (100 °C); 21.5 (500 °C)</a:t>
                      </a:r>
                      <a:endParaRPr sz="2000"/>
                    </a:p>
                  </a:txBody>
                  <a:tcPr marT="91425" marB="91425" marR="91425" marL="91425"/>
                </a:tc>
              </a:tr>
              <a:tr h="637650">
                <a:tc>
                  <a:txBody>
                    <a:bodyPr/>
                    <a:lstStyle/>
                    <a:p>
                      <a:pPr indent="0" lvl="0" marL="0" rtl="0" algn="l">
                        <a:spcBef>
                          <a:spcPts val="0"/>
                        </a:spcBef>
                        <a:spcAft>
                          <a:spcPts val="0"/>
                        </a:spcAft>
                        <a:buNone/>
                      </a:pPr>
                      <a:r>
                        <a:rPr lang="en-IN" sz="2000"/>
                        <a:t>Specific Heat (0–100 °C)</a:t>
                      </a:r>
                      <a:endParaRPr sz="2000"/>
                    </a:p>
                  </a:txBody>
                  <a:tcPr marT="91425" marB="91425" marR="91425" marL="91425"/>
                </a:tc>
                <a:tc>
                  <a:txBody>
                    <a:bodyPr/>
                    <a:lstStyle/>
                    <a:p>
                      <a:pPr indent="0" lvl="0" marL="0" rtl="0" algn="ctr">
                        <a:spcBef>
                          <a:spcPts val="0"/>
                        </a:spcBef>
                        <a:spcAft>
                          <a:spcPts val="0"/>
                        </a:spcAft>
                        <a:buNone/>
                      </a:pPr>
                      <a:r>
                        <a:rPr lang="en-IN" sz="1900"/>
                        <a:t>J</a:t>
                      </a:r>
                      <a:r>
                        <a:rPr lang="en-IN" sz="1900"/>
                        <a:t>/kg.k</a:t>
                      </a:r>
                      <a:endParaRPr sz="1900"/>
                    </a:p>
                  </a:txBody>
                  <a:tcPr marT="91425" marB="91425" marR="91425" marL="91425"/>
                </a:tc>
                <a:tc>
                  <a:txBody>
                    <a:bodyPr/>
                    <a:lstStyle/>
                    <a:p>
                      <a:pPr indent="0" lvl="0" marL="0" rtl="0" algn="ctr">
                        <a:spcBef>
                          <a:spcPts val="0"/>
                        </a:spcBef>
                        <a:spcAft>
                          <a:spcPts val="0"/>
                        </a:spcAft>
                        <a:buNone/>
                      </a:pPr>
                      <a:r>
                        <a:rPr lang="en-IN" sz="2000"/>
                        <a:t>500</a:t>
                      </a:r>
                      <a:endParaRPr sz="2000"/>
                    </a:p>
                  </a:txBody>
                  <a:tcPr marT="91425" marB="91425" marR="91425" marL="91425"/>
                </a:tc>
              </a:tr>
              <a:tr h="637650">
                <a:tc>
                  <a:txBody>
                    <a:bodyPr/>
                    <a:lstStyle/>
                    <a:p>
                      <a:pPr indent="0" lvl="0" marL="0" rtl="0" algn="l">
                        <a:spcBef>
                          <a:spcPts val="0"/>
                        </a:spcBef>
                        <a:spcAft>
                          <a:spcPts val="0"/>
                        </a:spcAft>
                        <a:buNone/>
                      </a:pPr>
                      <a:r>
                        <a:rPr lang="en-IN" sz="2000"/>
                        <a:t>Electrical Resistivity</a:t>
                      </a:r>
                      <a:endParaRPr sz="2000"/>
                    </a:p>
                  </a:txBody>
                  <a:tcPr marT="91425" marB="91425" marR="91425" marL="91425"/>
                </a:tc>
                <a:tc>
                  <a:txBody>
                    <a:bodyPr/>
                    <a:lstStyle/>
                    <a:p>
                      <a:pPr indent="0" lvl="0" marL="0" rtl="0" algn="ctr">
                        <a:spcBef>
                          <a:spcPts val="0"/>
                        </a:spcBef>
                        <a:spcAft>
                          <a:spcPts val="0"/>
                        </a:spcAft>
                        <a:buNone/>
                      </a:pPr>
                      <a:r>
                        <a:rPr lang="en-IN" sz="2000"/>
                        <a:t>nΩ·m</a:t>
                      </a:r>
                      <a:endParaRPr sz="2000"/>
                    </a:p>
                  </a:txBody>
                  <a:tcPr marT="91425" marB="91425" marR="91425" marL="91425"/>
                </a:tc>
                <a:tc>
                  <a:txBody>
                    <a:bodyPr/>
                    <a:lstStyle/>
                    <a:p>
                      <a:pPr indent="0" lvl="0" marL="0" rtl="0" algn="ctr">
                        <a:spcBef>
                          <a:spcPts val="0"/>
                        </a:spcBef>
                        <a:spcAft>
                          <a:spcPts val="0"/>
                        </a:spcAft>
                        <a:buNone/>
                      </a:pPr>
                      <a:r>
                        <a:rPr lang="en-IN" sz="2000"/>
                        <a:t>740</a:t>
                      </a:r>
                      <a:endParaRPr sz="2000"/>
                    </a:p>
                  </a:txBody>
                  <a:tcPr marT="91425" marB="91425" marR="91425" marL="91425"/>
                </a:tc>
              </a:tr>
              <a:tr h="637650">
                <a:tc>
                  <a:txBody>
                    <a:bodyPr/>
                    <a:lstStyle/>
                    <a:p>
                      <a:pPr indent="0" lvl="0" marL="0" rtl="0" algn="l">
                        <a:spcBef>
                          <a:spcPts val="0"/>
                        </a:spcBef>
                        <a:spcAft>
                          <a:spcPts val="0"/>
                        </a:spcAft>
                        <a:buNone/>
                      </a:pPr>
                      <a:r>
                        <a:rPr lang="en-IN" sz="2000"/>
                        <a:t>Tensile Strength</a:t>
                      </a:r>
                      <a:endParaRPr sz="2000"/>
                    </a:p>
                  </a:txBody>
                  <a:tcPr marT="91425" marB="91425" marR="91425" marL="91425"/>
                </a:tc>
                <a:tc>
                  <a:txBody>
                    <a:bodyPr/>
                    <a:lstStyle/>
                    <a:p>
                      <a:pPr indent="0" lvl="0" marL="0" rtl="0" algn="ctr">
                        <a:spcBef>
                          <a:spcPts val="0"/>
                        </a:spcBef>
                        <a:spcAft>
                          <a:spcPts val="0"/>
                        </a:spcAft>
                        <a:buNone/>
                      </a:pPr>
                      <a:r>
                        <a:rPr lang="en-IN" sz="2000"/>
                        <a:t>MPa</a:t>
                      </a:r>
                      <a:endParaRPr sz="2000"/>
                    </a:p>
                  </a:txBody>
                  <a:tcPr marT="91425" marB="91425" marR="91425" marL="91425"/>
                </a:tc>
                <a:tc>
                  <a:txBody>
                    <a:bodyPr/>
                    <a:lstStyle/>
                    <a:p>
                      <a:pPr indent="0" lvl="0" marL="0" rtl="0" algn="ctr">
                        <a:spcBef>
                          <a:spcPts val="0"/>
                        </a:spcBef>
                        <a:spcAft>
                          <a:spcPts val="0"/>
                        </a:spcAft>
                        <a:buNone/>
                      </a:pPr>
                      <a:r>
                        <a:rPr lang="en-IN" sz="2000"/>
                        <a:t>485</a:t>
                      </a:r>
                      <a:endParaRPr sz="2000"/>
                    </a:p>
                  </a:txBody>
                  <a:tcPr marT="91425" marB="91425" marR="91425" marL="91425"/>
                </a:tc>
              </a:tr>
              <a:tr h="637650">
                <a:tc>
                  <a:txBody>
                    <a:bodyPr/>
                    <a:lstStyle/>
                    <a:p>
                      <a:pPr indent="0" lvl="0" marL="0" rtl="0" algn="l">
                        <a:spcBef>
                          <a:spcPts val="0"/>
                        </a:spcBef>
                        <a:spcAft>
                          <a:spcPts val="0"/>
                        </a:spcAft>
                        <a:buNone/>
                      </a:pPr>
                      <a:r>
                        <a:rPr lang="en-IN" sz="2000"/>
                        <a:t>Yield Strength</a:t>
                      </a:r>
                      <a:endParaRPr sz="2000"/>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lang="en-IN" sz="2000">
                          <a:solidFill>
                            <a:schemeClr val="dk1"/>
                          </a:solidFill>
                        </a:rPr>
                        <a:t>MPa</a:t>
                      </a:r>
                      <a:endParaRPr/>
                    </a:p>
                  </a:txBody>
                  <a:tcPr marT="91425" marB="91425" marR="91425" marL="91425"/>
                </a:tc>
                <a:tc>
                  <a:txBody>
                    <a:bodyPr/>
                    <a:lstStyle/>
                    <a:p>
                      <a:pPr indent="0" lvl="0" marL="0" rtl="0" algn="ctr">
                        <a:spcBef>
                          <a:spcPts val="0"/>
                        </a:spcBef>
                        <a:spcAft>
                          <a:spcPts val="0"/>
                        </a:spcAft>
                        <a:buNone/>
                      </a:pPr>
                      <a:r>
                        <a:rPr lang="en-IN" sz="2000"/>
                        <a:t>170</a:t>
                      </a:r>
                      <a:endParaRPr sz="2000"/>
                    </a:p>
                  </a:txBody>
                  <a:tcPr marT="91425" marB="91425" marR="91425" marL="91425"/>
                </a:tc>
              </a:tr>
              <a:tr h="834775">
                <a:tc>
                  <a:txBody>
                    <a:bodyPr/>
                    <a:lstStyle/>
                    <a:p>
                      <a:pPr indent="0" lvl="0" marL="0" rtl="0" algn="l">
                        <a:spcBef>
                          <a:spcPts val="0"/>
                        </a:spcBef>
                        <a:spcAft>
                          <a:spcPts val="0"/>
                        </a:spcAft>
                        <a:buNone/>
                      </a:pPr>
                      <a:r>
                        <a:rPr lang="en-IN" sz="2000"/>
                        <a:t>Hardness</a:t>
                      </a:r>
                      <a:endParaRPr sz="2000"/>
                    </a:p>
                  </a:txBody>
                  <a:tcPr marT="91425" marB="91425" marR="91425" marL="91425"/>
                </a:tc>
                <a:tc>
                  <a:txBody>
                    <a:bodyPr/>
                    <a:lstStyle/>
                    <a:p>
                      <a:pPr indent="0" lvl="0" marL="0" rtl="0" algn="ctr">
                        <a:spcBef>
                          <a:spcPts val="0"/>
                        </a:spcBef>
                        <a:spcAft>
                          <a:spcPts val="0"/>
                        </a:spcAft>
                        <a:buNone/>
                      </a:pPr>
                      <a:r>
                        <a:rPr lang="en-IN" sz="2000"/>
                        <a:t>Rockwell</a:t>
                      </a:r>
                      <a:endParaRPr sz="2000"/>
                    </a:p>
                  </a:txBody>
                  <a:tcPr marT="91425" marB="91425" marR="91425" marL="91425"/>
                </a:tc>
                <a:tc>
                  <a:txBody>
                    <a:bodyPr/>
                    <a:lstStyle/>
                    <a:p>
                      <a:pPr indent="0" lvl="0" marL="0" rtl="0" algn="ctr">
                        <a:spcBef>
                          <a:spcPts val="0"/>
                        </a:spcBef>
                        <a:spcAft>
                          <a:spcPts val="0"/>
                        </a:spcAft>
                        <a:buNone/>
                      </a:pPr>
                      <a:r>
                        <a:rPr lang="en-IN" sz="2000"/>
                        <a:t>95</a:t>
                      </a:r>
                      <a:endParaRPr sz="2000"/>
                    </a:p>
                  </a:txBody>
                  <a:tcPr marT="91425" marB="91425" marR="91425" marL="91425"/>
                </a:tc>
              </a:tr>
            </a:tbl>
          </a:graphicData>
        </a:graphic>
      </p:graphicFrame>
      <p:graphicFrame>
        <p:nvGraphicFramePr>
          <p:cNvPr id="132" name="Google Shape;132;p18"/>
          <p:cNvGraphicFramePr/>
          <p:nvPr/>
        </p:nvGraphicFramePr>
        <p:xfrm>
          <a:off x="152400" y="152400"/>
          <a:ext cx="3000000" cy="3000000"/>
        </p:xfrm>
        <a:graphic>
          <a:graphicData uri="http://schemas.openxmlformats.org/drawingml/2006/table">
            <a:tbl>
              <a:tblPr>
                <a:noFill/>
                <a:tableStyleId>{1ADC0EA7-59B2-4048-998C-715A9385E0A3}</a:tableStyleId>
              </a:tblPr>
              <a:tblGrid>
                <a:gridCol w="19050"/>
              </a:tblGrid>
              <a:tr h="19050">
                <a:tc>
                  <a:txBody>
                    <a:bodyPr/>
                    <a:lstStyle/>
                    <a:p>
                      <a:pPr indent="0" lvl="0" marL="0" rtl="0" algn="l">
                        <a:spcBef>
                          <a:spcPts val="0"/>
                        </a:spcBef>
                        <a:spcAft>
                          <a:spcPts val="0"/>
                        </a:spcAft>
                        <a:buNone/>
                      </a:pPr>
                      <a:r>
                        <a:t/>
                      </a:r>
                      <a:endParaRPr/>
                    </a:p>
                  </a:txBody>
                  <a:tcPr marT="91425" marB="91425" marR="91425" marL="91425"/>
                </a:tc>
              </a:tr>
            </a:tbl>
          </a:graphicData>
        </a:graphic>
      </p:graphicFrame>
      <p:graphicFrame>
        <p:nvGraphicFramePr>
          <p:cNvPr id="133" name="Google Shape;133;p18"/>
          <p:cNvGraphicFramePr/>
          <p:nvPr/>
        </p:nvGraphicFramePr>
        <p:xfrm>
          <a:off x="609600" y="609600"/>
          <a:ext cx="3000000" cy="3000000"/>
        </p:xfrm>
        <a:graphic>
          <a:graphicData uri="http://schemas.openxmlformats.org/drawingml/2006/table">
            <a:tbl>
              <a:tblPr>
                <a:noFill/>
                <a:tableStyleId>{1ADC0EA7-59B2-4048-998C-715A9385E0A3}</a:tableStyleId>
              </a:tblPr>
              <a:tblGrid>
                <a:gridCol w="19050"/>
              </a:tblGrid>
              <a:tr h="19050">
                <a:tc>
                  <a:txBody>
                    <a:bodyPr/>
                    <a:lstStyle/>
                    <a:p>
                      <a:pPr indent="0" lvl="0" marL="0" rtl="0" algn="l">
                        <a:spcBef>
                          <a:spcPts val="0"/>
                        </a:spcBef>
                        <a:spcAft>
                          <a:spcPts val="0"/>
                        </a:spcAft>
                        <a:buNone/>
                      </a:pPr>
                      <a:r>
                        <a:t/>
                      </a:r>
                      <a:endParaRPr/>
                    </a:p>
                  </a:txBody>
                  <a:tcPr marT="91425" marB="91425" marR="91425" marL="91425"/>
                </a:tc>
              </a:tr>
            </a:tbl>
          </a:graphicData>
        </a:graphic>
      </p:graphicFrame>
      <p:graphicFrame>
        <p:nvGraphicFramePr>
          <p:cNvPr id="134" name="Google Shape;134;p18"/>
          <p:cNvGraphicFramePr/>
          <p:nvPr/>
        </p:nvGraphicFramePr>
        <p:xfrm>
          <a:off x="152400" y="152400"/>
          <a:ext cx="3000000" cy="3000000"/>
        </p:xfrm>
        <a:graphic>
          <a:graphicData uri="http://schemas.openxmlformats.org/drawingml/2006/table">
            <a:tbl>
              <a:tblPr>
                <a:noFill/>
                <a:tableStyleId>{1ADC0EA7-59B2-4048-998C-715A9385E0A3}</a:tableStyleId>
              </a:tblPr>
              <a:tblGrid>
                <a:gridCol w="19050"/>
              </a:tblGrid>
              <a:tr h="19050">
                <a:tc>
                  <a:txBody>
                    <a:bodyPr/>
                    <a:lstStyle/>
                    <a:p>
                      <a:pPr indent="0" lvl="0" marL="0" rtl="0" algn="l">
                        <a:spcBef>
                          <a:spcPts val="0"/>
                        </a:spcBef>
                        <a:spcAft>
                          <a:spcPts val="0"/>
                        </a:spcAft>
                        <a:buNone/>
                      </a:pPr>
                      <a:r>
                        <a:t/>
                      </a:r>
                      <a:endParaRPr/>
                    </a:p>
                  </a:txBody>
                  <a:tcPr marT="91425" marB="91425" marR="91425" marL="91425"/>
                </a:tc>
              </a:tr>
            </a:tbl>
          </a:graphicData>
        </a:graphic>
      </p:graphicFrame>
      <p:graphicFrame>
        <p:nvGraphicFramePr>
          <p:cNvPr id="135" name="Google Shape;135;p18"/>
          <p:cNvGraphicFramePr/>
          <p:nvPr/>
        </p:nvGraphicFramePr>
        <p:xfrm>
          <a:off x="304800" y="304800"/>
          <a:ext cx="3000000" cy="3000000"/>
        </p:xfrm>
        <a:graphic>
          <a:graphicData uri="http://schemas.openxmlformats.org/drawingml/2006/table">
            <a:tbl>
              <a:tblPr>
                <a:noFill/>
                <a:tableStyleId>{1ADC0EA7-59B2-4048-998C-715A9385E0A3}</a:tableStyleId>
              </a:tblPr>
              <a:tblGrid>
                <a:gridCol w="19050"/>
              </a:tblGrid>
              <a:tr h="19050">
                <a:tc>
                  <a:txBody>
                    <a:bodyPr/>
                    <a:lstStyle/>
                    <a:p>
                      <a:pPr indent="0" lvl="0" marL="0" rtl="0" algn="l">
                        <a:spcBef>
                          <a:spcPts val="0"/>
                        </a:spcBef>
                        <a:spcAft>
                          <a:spcPts val="0"/>
                        </a:spcAft>
                        <a:buNone/>
                      </a:pPr>
                      <a:r>
                        <a:t/>
                      </a:r>
                      <a:endParaRPr/>
                    </a:p>
                  </a:txBody>
                  <a:tcPr marT="91425" marB="91425" marR="91425" marL="91425"/>
                </a:tc>
              </a:tr>
            </a:tbl>
          </a:graphicData>
        </a:graphic>
      </p:graphicFrame>
      <p:sp>
        <p:nvSpPr>
          <p:cNvPr id="136" name="Google Shape;136;p18"/>
          <p:cNvSpPr txBox="1"/>
          <p:nvPr/>
        </p:nvSpPr>
        <p:spPr>
          <a:xfrm>
            <a:off x="1473600" y="0"/>
            <a:ext cx="9661200" cy="396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IN" sz="3600">
                <a:solidFill>
                  <a:srgbClr val="FF0000"/>
                </a:solidFill>
                <a:latin typeface="Times New Roman"/>
                <a:ea typeface="Times New Roman"/>
                <a:cs typeface="Times New Roman"/>
                <a:sym typeface="Times New Roman"/>
              </a:rPr>
              <a:t>Mechanical Properties Of SS316L</a:t>
            </a:r>
            <a:endParaRPr sz="3600">
              <a:solidFill>
                <a:srgbClr val="FF0000"/>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19"/>
          <p:cNvSpPr txBox="1"/>
          <p:nvPr>
            <p:ph type="title"/>
          </p:nvPr>
        </p:nvSpPr>
        <p:spPr>
          <a:xfrm>
            <a:off x="838200" y="0"/>
            <a:ext cx="10515600" cy="8526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IN" sz="3200">
                <a:solidFill>
                  <a:srgbClr val="FF0000"/>
                </a:solidFill>
                <a:latin typeface="Times New Roman"/>
                <a:ea typeface="Times New Roman"/>
                <a:cs typeface="Times New Roman"/>
                <a:sym typeface="Times New Roman"/>
              </a:rPr>
              <a:t>BASE PAPER</a:t>
            </a:r>
            <a:endParaRPr sz="3200">
              <a:solidFill>
                <a:srgbClr val="FF0000"/>
              </a:solidFill>
              <a:latin typeface="Times New Roman"/>
              <a:ea typeface="Times New Roman"/>
              <a:cs typeface="Times New Roman"/>
              <a:sym typeface="Times New Roman"/>
            </a:endParaRPr>
          </a:p>
        </p:txBody>
      </p:sp>
      <p:sp>
        <p:nvSpPr>
          <p:cNvPr id="143" name="Google Shape;143;p19"/>
          <p:cNvSpPr txBox="1"/>
          <p:nvPr>
            <p:ph idx="1" type="body"/>
          </p:nvPr>
        </p:nvSpPr>
        <p:spPr>
          <a:xfrm>
            <a:off x="838200" y="852600"/>
            <a:ext cx="10515600" cy="5324100"/>
          </a:xfrm>
          <a:prstGeom prst="rect">
            <a:avLst/>
          </a:prstGeom>
        </p:spPr>
        <p:txBody>
          <a:bodyPr anchorCtr="0" anchor="t" bIns="45700" lIns="91425" spcFirstLastPara="1" rIns="91425" wrap="square" tIns="45700">
            <a:normAutofit/>
          </a:bodyPr>
          <a:lstStyle/>
          <a:p>
            <a:pPr indent="0" lvl="0" marL="0" rtl="0" algn="just">
              <a:spcBef>
                <a:spcPts val="1000"/>
              </a:spcBef>
              <a:spcAft>
                <a:spcPts val="0"/>
              </a:spcAft>
              <a:buNone/>
            </a:pPr>
            <a:r>
              <a:rPr lang="en-IN" sz="2300">
                <a:latin typeface="Arial"/>
                <a:ea typeface="Arial"/>
                <a:cs typeface="Arial"/>
                <a:sym typeface="Arial"/>
              </a:rPr>
              <a:t>The base paper titled </a:t>
            </a:r>
            <a:r>
              <a:rPr b="1" lang="en-IN" sz="2300">
                <a:latin typeface="Arial"/>
                <a:ea typeface="Arial"/>
                <a:cs typeface="Arial"/>
                <a:sym typeface="Arial"/>
              </a:rPr>
              <a:t>“Effect of Build Orientation on the Microstructure and Mechanical Properties of Wire Arc Additive Manufactured Grade 91 Steel/Monel 400 Bimetallic Components”</a:t>
            </a:r>
            <a:r>
              <a:rPr lang="en-IN" sz="2300">
                <a:latin typeface="Arial"/>
                <a:ea typeface="Arial"/>
                <a:cs typeface="Arial"/>
                <a:sym typeface="Arial"/>
              </a:rPr>
              <a:t> investigates the microstructural and mechanical characterization of Wire Arc Additive Manufactured (WAAM) Grade 91 steel, Monel-400, and their bimetallic interface.</a:t>
            </a:r>
            <a:endParaRPr sz="2300">
              <a:latin typeface="Arial"/>
              <a:ea typeface="Arial"/>
              <a:cs typeface="Arial"/>
              <a:sym typeface="Arial"/>
            </a:endParaRPr>
          </a:p>
          <a:p>
            <a:pPr indent="0" lvl="0" marL="0" rtl="0" algn="just">
              <a:spcBef>
                <a:spcPts val="1000"/>
              </a:spcBef>
              <a:spcAft>
                <a:spcPts val="0"/>
              </a:spcAft>
              <a:buNone/>
            </a:pPr>
            <a:r>
              <a:rPr lang="en-IN" sz="2300">
                <a:latin typeface="Arial"/>
                <a:ea typeface="Arial"/>
                <a:cs typeface="Arial"/>
                <a:sym typeface="Arial"/>
              </a:rPr>
              <a:t> The study emphasizes controlled layer-by-layer deposition, careful selection of process parameters such as wire feed rate, travel speed, and arc current, and their influence on microstructural evolution and mechanical performance. Advanced characterization techniques including SEM, EDS, XPS, tensile testing, and microhardness evaluation were used to analyze the as-built structures.</a:t>
            </a:r>
            <a:endParaRPr sz="2300">
              <a:latin typeface="Arial"/>
              <a:ea typeface="Arial"/>
              <a:cs typeface="Arial"/>
              <a:sym typeface="Arial"/>
            </a:endParaRPr>
          </a:p>
          <a:p>
            <a:pPr indent="0" lvl="0" marL="0" rtl="0" algn="just">
              <a:spcBef>
                <a:spcPts val="1000"/>
              </a:spcBef>
              <a:spcAft>
                <a:spcPts val="0"/>
              </a:spcAft>
              <a:buNone/>
            </a:pPr>
            <a:r>
              <a:rPr lang="en-IN" sz="2300">
                <a:latin typeface="Arial"/>
                <a:ea typeface="Arial"/>
                <a:cs typeface="Arial"/>
                <a:sym typeface="Arial"/>
              </a:rPr>
              <a:t>From this work, we have adopted the WAAM fabrication methodology, parameter control strategy, and systematic approach to layer deposition to ensure structural integrity and consistent build quality in our project.</a:t>
            </a:r>
            <a:endParaRPr sz="2300">
              <a:latin typeface="Arial"/>
              <a:ea typeface="Arial"/>
              <a:cs typeface="Arial"/>
              <a:sym typeface="Arial"/>
            </a:endParaRPr>
          </a:p>
        </p:txBody>
      </p:sp>
      <p:sp>
        <p:nvSpPr>
          <p:cNvPr id="144" name="Google Shape;144;p19"/>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0"/>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graphicFrame>
        <p:nvGraphicFramePr>
          <p:cNvPr id="151" name="Google Shape;151;p20"/>
          <p:cNvGraphicFramePr/>
          <p:nvPr/>
        </p:nvGraphicFramePr>
        <p:xfrm>
          <a:off x="518025" y="768700"/>
          <a:ext cx="3000000" cy="3000000"/>
        </p:xfrm>
        <a:graphic>
          <a:graphicData uri="http://schemas.openxmlformats.org/drawingml/2006/table">
            <a:tbl>
              <a:tblPr>
                <a:noFill/>
                <a:tableStyleId>{59E93DEC-B814-473E-B6FB-395829DA1DCD}</a:tableStyleId>
              </a:tblPr>
              <a:tblGrid>
                <a:gridCol w="842975"/>
                <a:gridCol w="3271825"/>
                <a:gridCol w="1021550"/>
                <a:gridCol w="3093250"/>
                <a:gridCol w="2976900"/>
              </a:tblGrid>
              <a:tr h="381000">
                <a:tc>
                  <a:txBody>
                    <a:bodyPr/>
                    <a:lstStyle/>
                    <a:p>
                      <a:pPr indent="0" lvl="0" marL="0" rtl="0" algn="ctr">
                        <a:spcBef>
                          <a:spcPts val="0"/>
                        </a:spcBef>
                        <a:spcAft>
                          <a:spcPts val="0"/>
                        </a:spcAft>
                        <a:buClr>
                          <a:schemeClr val="dk1"/>
                        </a:buClr>
                        <a:buSzPts val="1100"/>
                        <a:buFont typeface="Arial"/>
                        <a:buNone/>
                      </a:pPr>
                      <a:r>
                        <a:rPr b="1" lang="en-IN" sz="2100">
                          <a:solidFill>
                            <a:schemeClr val="dk1"/>
                          </a:solidFill>
                          <a:latin typeface="Times New Roman"/>
                          <a:ea typeface="Times New Roman"/>
                          <a:cs typeface="Times New Roman"/>
                          <a:sym typeface="Times New Roman"/>
                        </a:rPr>
                        <a:t>S.NO</a:t>
                      </a:r>
                      <a:endParaRPr/>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b="1" lang="en-IN" sz="2100">
                          <a:solidFill>
                            <a:schemeClr val="dk1"/>
                          </a:solidFill>
                          <a:latin typeface="Times New Roman"/>
                          <a:ea typeface="Times New Roman"/>
                          <a:cs typeface="Times New Roman"/>
                          <a:sym typeface="Times New Roman"/>
                        </a:rPr>
                        <a:t>TITLE</a:t>
                      </a:r>
                      <a:endParaRPr b="1" sz="21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b="1" lang="en-IN" sz="2100">
                          <a:solidFill>
                            <a:schemeClr val="dk1"/>
                          </a:solidFill>
                          <a:latin typeface="Times New Roman"/>
                          <a:ea typeface="Times New Roman"/>
                          <a:cs typeface="Times New Roman"/>
                          <a:sym typeface="Times New Roman"/>
                        </a:rPr>
                        <a:t>YEAR</a:t>
                      </a:r>
                      <a:endParaRPr/>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b="1" lang="en-IN" sz="2100">
                          <a:solidFill>
                            <a:schemeClr val="dk1"/>
                          </a:solidFill>
                          <a:latin typeface="Times New Roman"/>
                          <a:ea typeface="Times New Roman"/>
                          <a:cs typeface="Times New Roman"/>
                          <a:sym typeface="Times New Roman"/>
                        </a:rPr>
                        <a:t>AUTHOR</a:t>
                      </a:r>
                      <a:endParaRPr sz="1100">
                        <a:solidFill>
                          <a:schemeClr val="dk1"/>
                        </a:solidFill>
                      </a:endParaRPr>
                    </a:p>
                    <a:p>
                      <a:pPr indent="0" lvl="0" marL="0" rtl="0" algn="l">
                        <a:spcBef>
                          <a:spcPts val="0"/>
                        </a:spcBef>
                        <a:spcAft>
                          <a:spcPts val="0"/>
                        </a:spcAft>
                        <a:buNone/>
                      </a:pPr>
                      <a:r>
                        <a:t/>
                      </a:r>
                      <a:endParaRPr/>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b="1" lang="en-IN" sz="2100">
                          <a:solidFill>
                            <a:schemeClr val="dk1"/>
                          </a:solidFill>
                          <a:latin typeface="Times New Roman"/>
                          <a:ea typeface="Times New Roman"/>
                          <a:cs typeface="Times New Roman"/>
                          <a:sym typeface="Times New Roman"/>
                        </a:rPr>
                        <a:t>INFERENCE</a:t>
                      </a:r>
                      <a:endParaRPr/>
                    </a:p>
                  </a:txBody>
                  <a:tcPr marT="91425" marB="91425" marR="91425" marL="91425"/>
                </a:tc>
              </a:tr>
              <a:tr h="2066400">
                <a:tc>
                  <a:txBody>
                    <a:bodyPr/>
                    <a:lstStyle/>
                    <a:p>
                      <a:pPr indent="0" lvl="0" marL="0" rtl="0" algn="ctr">
                        <a:spcBef>
                          <a:spcPts val="0"/>
                        </a:spcBef>
                        <a:spcAft>
                          <a:spcPts val="0"/>
                        </a:spcAft>
                        <a:buClr>
                          <a:schemeClr val="dk1"/>
                        </a:buClr>
                        <a:buSzPts val="1100"/>
                        <a:buFont typeface="Arial"/>
                        <a:buNone/>
                      </a:pPr>
                      <a:r>
                        <a:rPr lang="en-IN" sz="1800">
                          <a:solidFill>
                            <a:schemeClr val="dk1"/>
                          </a:solidFill>
                        </a:rPr>
                        <a:t>3</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IN">
                          <a:solidFill>
                            <a:schemeClr val="dk1"/>
                          </a:solidFill>
                        </a:rPr>
                        <a:t>Tailoring Microstructure for Enhanced Mechanical and Wear Performance of Wire Arc Additively Manufactured SS 316L: Role of Interlayer Cooling Time</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IN" sz="1600">
                          <a:solidFill>
                            <a:schemeClr val="dk1"/>
                          </a:solidFill>
                        </a:rPr>
                        <a:t>2025</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IN">
                          <a:solidFill>
                            <a:schemeClr val="dk1"/>
                          </a:solidFill>
                        </a:rPr>
                        <a:t>Pushkal Badoniya, Manu Srivastava, Prashant K. Jain</a:t>
                      </a:r>
                      <a:endParaRPr>
                        <a:solidFill>
                          <a:schemeClr val="dk1"/>
                        </a:solidFill>
                      </a:endParaRPr>
                    </a:p>
                    <a:p>
                      <a:pPr indent="0" lvl="0" marL="0" rtl="0" algn="l">
                        <a:spcBef>
                          <a:spcPts val="0"/>
                        </a:spcBef>
                        <a:spcAft>
                          <a:spcPts val="0"/>
                        </a:spcAft>
                        <a:buNone/>
                      </a:pPr>
                      <a:r>
                        <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IN">
                          <a:solidFill>
                            <a:schemeClr val="dk1"/>
                          </a:solidFill>
                        </a:rPr>
                        <a:t>This paper studies how changing interlayer cooling time (1–4 min) affects WAAM 316L stainless steel. Increasing cooling time made the grains finer, improved hardness and strength, and reduced wear. The study shows that proper cooling time improves overall mechanical and wear performance.</a:t>
                      </a:r>
                      <a:endParaRPr>
                        <a:solidFill>
                          <a:schemeClr val="dk1"/>
                        </a:solidFill>
                      </a:endParaRPr>
                    </a:p>
                    <a:p>
                      <a:pPr indent="0" lvl="0" marL="0" rtl="0" algn="l">
                        <a:spcBef>
                          <a:spcPts val="0"/>
                        </a:spcBef>
                        <a:spcAft>
                          <a:spcPts val="0"/>
                        </a:spcAft>
                        <a:buNone/>
                      </a:pPr>
                      <a:r>
                        <a:t/>
                      </a:r>
                      <a:endParaRPr/>
                    </a:p>
                  </a:txBody>
                  <a:tcPr marT="91425" marB="91425" marR="91425" marL="91425">
                    <a:lnB cap="flat" cmpd="sng" w="9525">
                      <a:solidFill>
                        <a:srgbClr val="9E9E9E"/>
                      </a:solidFill>
                      <a:prstDash val="solid"/>
                      <a:round/>
                      <a:headEnd len="sm" w="sm" type="none"/>
                      <a:tailEnd len="sm" w="sm" type="none"/>
                    </a:lnB>
                  </a:tcPr>
                </a:tc>
              </a:tr>
              <a:tr h="2140700">
                <a:tc>
                  <a:txBody>
                    <a:bodyPr/>
                    <a:lstStyle/>
                    <a:p>
                      <a:pPr indent="0" lvl="0" marL="0" rtl="0" algn="ctr">
                        <a:spcBef>
                          <a:spcPts val="0"/>
                        </a:spcBef>
                        <a:spcAft>
                          <a:spcPts val="0"/>
                        </a:spcAft>
                        <a:buNone/>
                      </a:pPr>
                      <a:r>
                        <a:rPr lang="en-IN" sz="1700"/>
                        <a:t>4</a:t>
                      </a:r>
                      <a:endParaRPr sz="17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IN"/>
                        <a:t>Mechanical properties and corrosion resistance of a component manufactured by Wire Arc Additive Manufacturing</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IN"/>
                        <a:t>      </a:t>
                      </a:r>
                      <a:endParaRPr/>
                    </a:p>
                    <a:p>
                      <a:pPr indent="0" lvl="0" marL="0" rtl="0" algn="l">
                        <a:spcBef>
                          <a:spcPts val="0"/>
                        </a:spcBef>
                        <a:spcAft>
                          <a:spcPts val="0"/>
                        </a:spcAft>
                        <a:buNone/>
                      </a:pPr>
                      <a:r>
                        <a:rPr lang="en-IN"/>
                        <a:t>     </a:t>
                      </a:r>
                      <a:r>
                        <a:rPr lang="en-IN" sz="1600"/>
                        <a:t>2025 </a:t>
                      </a:r>
                      <a:r>
                        <a:rPr lang="en-IN"/>
                        <a:t>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IN"/>
                        <a:t> Lucas Lauriano da Silva, Demostenes Ferreira Filho</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IN"/>
                        <a:t>The study concludes that WAAM-manufactured smooth tubes meet ASTM Grade B mechanical standards and show better corrosion resistance than conventional steel in chlorine environments. However, misalignment during fabrication causes porosity, reducing tensile strength. Therefore, WAAM is a viable method for chlorine pipeline components with proper process control.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152" name="Google Shape;152;p20"/>
          <p:cNvSpPr txBox="1"/>
          <p:nvPr/>
        </p:nvSpPr>
        <p:spPr>
          <a:xfrm>
            <a:off x="571500" y="0"/>
            <a:ext cx="11037000" cy="768600"/>
          </a:xfrm>
          <a:prstGeom prst="rect">
            <a:avLst/>
          </a:prstGeom>
          <a:noFill/>
          <a:ln>
            <a:noFill/>
          </a:ln>
        </p:spPr>
        <p:txBody>
          <a:bodyPr anchorCtr="0" anchor="t" bIns="91425" lIns="91425" spcFirstLastPara="1" rIns="91425" wrap="square" tIns="91425">
            <a:noAutofit/>
          </a:bodyPr>
          <a:lstStyle/>
          <a:p>
            <a:pPr indent="0" lvl="0" marL="0" rtl="0" algn="ctr">
              <a:lnSpc>
                <a:spcPct val="90000"/>
              </a:lnSpc>
              <a:spcBef>
                <a:spcPts val="0"/>
              </a:spcBef>
              <a:spcAft>
                <a:spcPts val="0"/>
              </a:spcAft>
              <a:buClr>
                <a:srgbClr val="FF0000"/>
              </a:buClr>
              <a:buSzPts val="4400"/>
              <a:buFont typeface="Times New Roman"/>
              <a:buNone/>
            </a:pPr>
            <a:r>
              <a:rPr lang="en-IN" sz="4400">
                <a:solidFill>
                  <a:srgbClr val="FF0000"/>
                </a:solidFill>
                <a:latin typeface="Times New Roman"/>
                <a:ea typeface="Times New Roman"/>
                <a:cs typeface="Times New Roman"/>
                <a:sym typeface="Times New Roman"/>
              </a:rPr>
              <a:t>Literature Review</a:t>
            </a:r>
            <a:endParaRPr sz="44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1"/>
          <p:cNvSpPr txBox="1"/>
          <p:nvPr>
            <p:ph type="title"/>
          </p:nvPr>
        </p:nvSpPr>
        <p:spPr>
          <a:xfrm>
            <a:off x="3509200" y="0"/>
            <a:ext cx="4593300" cy="8865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0000"/>
              </a:buClr>
              <a:buSzPts val="4400"/>
              <a:buFont typeface="Times New Roman"/>
              <a:buNone/>
            </a:pPr>
            <a:r>
              <a:rPr lang="en-IN">
                <a:solidFill>
                  <a:srgbClr val="FF0000"/>
                </a:solidFill>
                <a:latin typeface="Times New Roman"/>
                <a:ea typeface="Times New Roman"/>
                <a:cs typeface="Times New Roman"/>
                <a:sym typeface="Times New Roman"/>
              </a:rPr>
              <a:t>Literature Review</a:t>
            </a:r>
            <a:endParaRPr/>
          </a:p>
        </p:txBody>
      </p:sp>
      <p:sp>
        <p:nvSpPr>
          <p:cNvPr id="158" name="Google Shape;158;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aphicFrame>
        <p:nvGraphicFramePr>
          <p:cNvPr id="159" name="Google Shape;159;p21"/>
          <p:cNvGraphicFramePr/>
          <p:nvPr/>
        </p:nvGraphicFramePr>
        <p:xfrm>
          <a:off x="662350" y="886500"/>
          <a:ext cx="3000000" cy="3000000"/>
        </p:xfrm>
        <a:graphic>
          <a:graphicData uri="http://schemas.openxmlformats.org/drawingml/2006/table">
            <a:tbl>
              <a:tblPr>
                <a:noFill/>
                <a:tableStyleId>{59E93DEC-B814-473E-B6FB-395829DA1DCD}</a:tableStyleId>
              </a:tblPr>
              <a:tblGrid>
                <a:gridCol w="801300"/>
                <a:gridCol w="3313500"/>
                <a:gridCol w="1117075"/>
                <a:gridCol w="2535725"/>
                <a:gridCol w="3391750"/>
              </a:tblGrid>
              <a:tr h="646950">
                <a:tc>
                  <a:txBody>
                    <a:bodyPr/>
                    <a:lstStyle/>
                    <a:p>
                      <a:pPr indent="0" lvl="0" marL="0" rtl="0" algn="ctr">
                        <a:spcBef>
                          <a:spcPts val="0"/>
                        </a:spcBef>
                        <a:spcAft>
                          <a:spcPts val="0"/>
                        </a:spcAft>
                        <a:buNone/>
                      </a:pPr>
                      <a:r>
                        <a:rPr b="1" lang="en-IN" sz="2100">
                          <a:latin typeface="Times New Roman"/>
                          <a:ea typeface="Times New Roman"/>
                          <a:cs typeface="Times New Roman"/>
                          <a:sym typeface="Times New Roman"/>
                        </a:rPr>
                        <a:t>S.NO</a:t>
                      </a:r>
                      <a:endParaRPr b="1" sz="21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b="1" lang="en-IN" sz="2100">
                          <a:latin typeface="Times New Roman"/>
                          <a:ea typeface="Times New Roman"/>
                          <a:cs typeface="Times New Roman"/>
                          <a:sym typeface="Times New Roman"/>
                        </a:rPr>
                        <a:t>TITLE</a:t>
                      </a:r>
                      <a:endParaRPr b="1" sz="21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b="1" lang="en-IN" sz="2100">
                          <a:solidFill>
                            <a:schemeClr val="dk1"/>
                          </a:solidFill>
                          <a:latin typeface="Times New Roman"/>
                          <a:ea typeface="Times New Roman"/>
                          <a:cs typeface="Times New Roman"/>
                          <a:sym typeface="Times New Roman"/>
                        </a:rPr>
                        <a:t>YEAR</a:t>
                      </a:r>
                      <a:endParaRPr sz="1100"/>
                    </a:p>
                  </a:txBody>
                  <a:tcPr marT="91425" marB="91425" marR="91425" marL="91425"/>
                </a:tc>
                <a:tc>
                  <a:txBody>
                    <a:bodyPr/>
                    <a:lstStyle/>
                    <a:p>
                      <a:pPr indent="0" lvl="0" marL="0" rtl="0" algn="ctr">
                        <a:spcBef>
                          <a:spcPts val="0"/>
                        </a:spcBef>
                        <a:spcAft>
                          <a:spcPts val="0"/>
                        </a:spcAft>
                        <a:buNone/>
                      </a:pPr>
                      <a:r>
                        <a:rPr b="1" lang="en-IN" sz="2100">
                          <a:solidFill>
                            <a:schemeClr val="dk1"/>
                          </a:solidFill>
                          <a:latin typeface="Times New Roman"/>
                          <a:ea typeface="Times New Roman"/>
                          <a:cs typeface="Times New Roman"/>
                          <a:sym typeface="Times New Roman"/>
                        </a:rPr>
                        <a:t>AUTHOR</a:t>
                      </a:r>
                      <a:endParaRPr sz="1100"/>
                    </a:p>
                  </a:txBody>
                  <a:tcPr marT="91425" marB="91425" marR="91425" marL="91425"/>
                </a:tc>
                <a:tc>
                  <a:txBody>
                    <a:bodyPr/>
                    <a:lstStyle/>
                    <a:p>
                      <a:pPr indent="0" lvl="0" marL="0" rtl="0" algn="ctr">
                        <a:spcBef>
                          <a:spcPts val="0"/>
                        </a:spcBef>
                        <a:spcAft>
                          <a:spcPts val="0"/>
                        </a:spcAft>
                        <a:buNone/>
                      </a:pPr>
                      <a:r>
                        <a:rPr b="1" lang="en-IN" sz="2100">
                          <a:solidFill>
                            <a:schemeClr val="dk1"/>
                          </a:solidFill>
                          <a:latin typeface="Times New Roman"/>
                          <a:ea typeface="Times New Roman"/>
                          <a:cs typeface="Times New Roman"/>
                          <a:sym typeface="Times New Roman"/>
                        </a:rPr>
                        <a:t>INFERENCE</a:t>
                      </a:r>
                      <a:endParaRPr sz="1100"/>
                    </a:p>
                  </a:txBody>
                  <a:tcPr marT="91425" marB="91425" marR="91425" marL="91425"/>
                </a:tc>
              </a:tr>
              <a:tr h="2010025">
                <a:tc>
                  <a:txBody>
                    <a:bodyPr/>
                    <a:lstStyle/>
                    <a:p>
                      <a:pPr indent="0" lvl="0" marL="0" rtl="0" algn="l">
                        <a:spcBef>
                          <a:spcPts val="0"/>
                        </a:spcBef>
                        <a:spcAft>
                          <a:spcPts val="0"/>
                        </a:spcAft>
                        <a:buNone/>
                      </a:pPr>
                      <a:r>
                        <a:rPr lang="en-IN" sz="1800"/>
                        <a:t>1</a:t>
                      </a:r>
                      <a:endParaRPr sz="1800"/>
                    </a:p>
                  </a:txBody>
                  <a:tcPr marT="91425" marB="91425" marR="91425" marL="91425"/>
                </a:tc>
                <a:tc>
                  <a:txBody>
                    <a:bodyPr/>
                    <a:lstStyle/>
                    <a:p>
                      <a:pPr indent="0" lvl="0" marL="0" rtl="0" algn="l">
                        <a:spcBef>
                          <a:spcPts val="0"/>
                        </a:spcBef>
                        <a:spcAft>
                          <a:spcPts val="0"/>
                        </a:spcAft>
                        <a:buNone/>
                      </a:pPr>
                      <a:r>
                        <a:rPr lang="en-IN"/>
                        <a:t>A Comparative Study on the Microstructure, Mechanical Properties, Wear and Corrosion Behaviors of SS 316 Austenitic Stainless Steels Manufactured by Casting and WAAM Technologies</a:t>
                      </a:r>
                      <a:endParaRPr/>
                    </a:p>
                  </a:txBody>
                  <a:tcPr marT="91425" marB="91425" marR="91425" marL="91425"/>
                </a:tc>
                <a:tc>
                  <a:txBody>
                    <a:bodyPr/>
                    <a:lstStyle/>
                    <a:p>
                      <a:pPr indent="0" lvl="0" marL="0" rtl="0" algn="ctr">
                        <a:spcBef>
                          <a:spcPts val="0"/>
                        </a:spcBef>
                        <a:spcAft>
                          <a:spcPts val="0"/>
                        </a:spcAft>
                        <a:buNone/>
                      </a:pPr>
                      <a:r>
                        <a:rPr lang="en-IN" sz="1600"/>
                        <a:t>2023</a:t>
                      </a:r>
                      <a:endParaRPr sz="1600"/>
                    </a:p>
                  </a:txBody>
                  <a:tcPr marT="91425" marB="91425" marR="91425" marL="91425"/>
                </a:tc>
                <a:tc>
                  <a:txBody>
                    <a:bodyPr/>
                    <a:lstStyle/>
                    <a:p>
                      <a:pPr indent="0" lvl="0" marL="0" rtl="0" algn="l">
                        <a:spcBef>
                          <a:spcPts val="0"/>
                        </a:spcBef>
                        <a:spcAft>
                          <a:spcPts val="0"/>
                        </a:spcAft>
                        <a:buNone/>
                      </a:pPr>
                      <a:r>
                        <a:rPr lang="en-IN"/>
                        <a:t>Ugur Gürol, Engin Kocaman, Savaş Dilibal, Mustafa Koçak</a:t>
                      </a:r>
                      <a:endParaRPr/>
                    </a:p>
                  </a:txBody>
                  <a:tcPr marT="91425" marB="91425" marR="91425" marL="91425"/>
                </a:tc>
                <a:tc>
                  <a:txBody>
                    <a:bodyPr/>
                    <a:lstStyle/>
                    <a:p>
                      <a:pPr indent="0" lvl="0" marL="0" rtl="0" algn="l">
                        <a:spcBef>
                          <a:spcPts val="0"/>
                        </a:spcBef>
                        <a:spcAft>
                          <a:spcPts val="0"/>
                        </a:spcAft>
                        <a:buNone/>
                      </a:pPr>
                      <a:r>
                        <a:rPr lang="en-IN"/>
                        <a:t>This paper compares stainless steel made by casting and WAAM. WAAM parts were stronger and had better corrosion resistance, while heat-treated cast parts showed good wear resistance. The study concludes that WAAM can replace casting for making SS316 components.</a:t>
                      </a:r>
                      <a:endParaRPr/>
                    </a:p>
                  </a:txBody>
                  <a:tcPr marT="91425" marB="91425" marR="91425" marL="91425"/>
                </a:tc>
              </a:tr>
              <a:tr h="2918825">
                <a:tc>
                  <a:txBody>
                    <a:bodyPr/>
                    <a:lstStyle/>
                    <a:p>
                      <a:pPr indent="0" lvl="0" marL="0" rtl="0" algn="l">
                        <a:spcBef>
                          <a:spcPts val="0"/>
                        </a:spcBef>
                        <a:spcAft>
                          <a:spcPts val="0"/>
                        </a:spcAft>
                        <a:buNone/>
                      </a:pPr>
                      <a:r>
                        <a:rPr lang="en-IN" sz="1800"/>
                        <a:t>2</a:t>
                      </a:r>
                      <a:endParaRPr sz="1800"/>
                    </a:p>
                  </a:txBody>
                  <a:tcPr marT="91425" marB="91425" marR="91425" marL="91425"/>
                </a:tc>
                <a:tc>
                  <a:txBody>
                    <a:bodyPr/>
                    <a:lstStyle/>
                    <a:p>
                      <a:pPr indent="0" lvl="0" marL="0" rtl="0" algn="l">
                        <a:spcBef>
                          <a:spcPts val="0"/>
                        </a:spcBef>
                        <a:spcAft>
                          <a:spcPts val="0"/>
                        </a:spcAft>
                        <a:buNone/>
                      </a:pPr>
                      <a:r>
                        <a:rPr lang="en-IN"/>
                        <a:t>Impact Toughness at Room and Cryogenic Temperatures of 316L Stainless Steel Processed by Wire Arc Additive Manufacturing</a:t>
                      </a:r>
                      <a:endParaRPr/>
                    </a:p>
                  </a:txBody>
                  <a:tcPr marT="91425" marB="91425" marR="91425" marL="91425"/>
                </a:tc>
                <a:tc>
                  <a:txBody>
                    <a:bodyPr/>
                    <a:lstStyle/>
                    <a:p>
                      <a:pPr indent="0" lvl="0" marL="0" rtl="0" algn="ctr">
                        <a:spcBef>
                          <a:spcPts val="0"/>
                        </a:spcBef>
                        <a:spcAft>
                          <a:spcPts val="0"/>
                        </a:spcAft>
                        <a:buNone/>
                      </a:pPr>
                      <a:r>
                        <a:rPr lang="en-IN" sz="1600"/>
                        <a:t>2025 </a:t>
                      </a:r>
                      <a:endParaRPr sz="1600"/>
                    </a:p>
                  </a:txBody>
                  <a:tcPr marT="91425" marB="91425" marR="91425" marL="91425"/>
                </a:tc>
                <a:tc>
                  <a:txBody>
                    <a:bodyPr/>
                    <a:lstStyle/>
                    <a:p>
                      <a:pPr indent="0" lvl="0" marL="0" rtl="0" algn="l">
                        <a:spcBef>
                          <a:spcPts val="0"/>
                        </a:spcBef>
                        <a:spcAft>
                          <a:spcPts val="0"/>
                        </a:spcAft>
                        <a:buNone/>
                      </a:pPr>
                      <a:r>
                        <a:rPr lang="en-IN"/>
                        <a:t>Edouard de Sonis, Sylvain Dépinoy, Pierre-François Giroux, Hicham Maskrot, Pierre Wident, Flore Villaret, Anne-Françoise Gourgues-Lorenzon </a:t>
                      </a:r>
                      <a:endParaRPr/>
                    </a:p>
                  </a:txBody>
                  <a:tcPr marT="91425" marB="91425" marR="91425" marL="91425"/>
                </a:tc>
                <a:tc>
                  <a:txBody>
                    <a:bodyPr/>
                    <a:lstStyle/>
                    <a:p>
                      <a:pPr indent="0" lvl="0" marL="0" rtl="0" algn="l">
                        <a:spcBef>
                          <a:spcPts val="0"/>
                        </a:spcBef>
                        <a:spcAft>
                          <a:spcPts val="0"/>
                        </a:spcAft>
                        <a:buNone/>
                      </a:pPr>
                      <a:r>
                        <a:rPr lang="en-IN"/>
                        <a:t>This paper studies how WAAM 316L stainless steel behaves under impact at room and very low temperatures. The material becomes brittle at −193°C, but after recrystallization heat treatment, its toughness improves significantly. The study shows that heat treatment plays a key role in improving low-temperature performance.</a:t>
                      </a:r>
                      <a:endParaRPr/>
                    </a:p>
                  </a:txBody>
                  <a:tcPr marT="91425" marB="91425" marR="91425" marL="91425"/>
                </a:tc>
              </a:tr>
            </a:tbl>
          </a:graphicData>
        </a:graphic>
      </p:graphicFrame>
      <p:sp>
        <p:nvSpPr>
          <p:cNvPr id="160" name="Google Shape;160;p21"/>
          <p:cNvSpPr txBox="1"/>
          <p:nvPr/>
        </p:nvSpPr>
        <p:spPr>
          <a:xfrm>
            <a:off x="-2419675" y="-375350"/>
            <a:ext cx="16810800" cy="116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8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2"/>
          <p:cNvSpPr txBox="1"/>
          <p:nvPr>
            <p:ph type="title"/>
          </p:nvPr>
        </p:nvSpPr>
        <p:spPr>
          <a:xfrm>
            <a:off x="838200" y="123975"/>
            <a:ext cx="10515600" cy="7863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Clr>
                <a:srgbClr val="FF0000"/>
              </a:buClr>
              <a:buSzPts val="4400"/>
              <a:buFont typeface="Times New Roman"/>
              <a:buNone/>
            </a:pPr>
            <a:r>
              <a:rPr lang="en-IN">
                <a:solidFill>
                  <a:srgbClr val="FF0000"/>
                </a:solidFill>
                <a:latin typeface="Times New Roman"/>
                <a:ea typeface="Times New Roman"/>
                <a:cs typeface="Times New Roman"/>
                <a:sym typeface="Times New Roman"/>
              </a:rPr>
              <a:t>                     </a:t>
            </a:r>
            <a:r>
              <a:rPr lang="en-IN">
                <a:solidFill>
                  <a:srgbClr val="FF0000"/>
                </a:solidFill>
                <a:latin typeface="Times New Roman"/>
                <a:ea typeface="Times New Roman"/>
                <a:cs typeface="Times New Roman"/>
                <a:sym typeface="Times New Roman"/>
              </a:rPr>
              <a:t>Literature Review</a:t>
            </a:r>
            <a:endParaRPr/>
          </a:p>
        </p:txBody>
      </p:sp>
      <p:sp>
        <p:nvSpPr>
          <p:cNvPr id="167" name="Google Shape;167;p22"/>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graphicFrame>
        <p:nvGraphicFramePr>
          <p:cNvPr id="168" name="Google Shape;168;p22"/>
          <p:cNvGraphicFramePr/>
          <p:nvPr/>
        </p:nvGraphicFramePr>
        <p:xfrm>
          <a:off x="273788" y="1053400"/>
          <a:ext cx="3000000" cy="3000000"/>
        </p:xfrm>
        <a:graphic>
          <a:graphicData uri="http://schemas.openxmlformats.org/drawingml/2006/table">
            <a:tbl>
              <a:tblPr>
                <a:noFill/>
                <a:tableStyleId>{59E93DEC-B814-473E-B6FB-395829DA1DCD}</a:tableStyleId>
              </a:tblPr>
              <a:tblGrid>
                <a:gridCol w="828075"/>
                <a:gridCol w="2722250"/>
                <a:gridCol w="1200375"/>
                <a:gridCol w="3006500"/>
                <a:gridCol w="3791950"/>
              </a:tblGrid>
              <a:tr h="708175">
                <a:tc>
                  <a:txBody>
                    <a:bodyPr/>
                    <a:lstStyle/>
                    <a:p>
                      <a:pPr indent="0" lvl="0" marL="0" rtl="0" algn="ctr">
                        <a:spcBef>
                          <a:spcPts val="0"/>
                        </a:spcBef>
                        <a:spcAft>
                          <a:spcPts val="0"/>
                        </a:spcAft>
                        <a:buClr>
                          <a:schemeClr val="dk1"/>
                        </a:buClr>
                        <a:buSzPts val="1100"/>
                        <a:buFont typeface="Arial"/>
                        <a:buNone/>
                      </a:pPr>
                      <a:r>
                        <a:rPr b="1" lang="en-IN" sz="2100">
                          <a:solidFill>
                            <a:schemeClr val="dk1"/>
                          </a:solidFill>
                          <a:latin typeface="Times New Roman"/>
                          <a:ea typeface="Times New Roman"/>
                          <a:cs typeface="Times New Roman"/>
                          <a:sym typeface="Times New Roman"/>
                        </a:rPr>
                        <a:t>S.NO</a:t>
                      </a:r>
                      <a:endParaRPr/>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b="1" lang="en-IN" sz="2100">
                          <a:solidFill>
                            <a:schemeClr val="dk1"/>
                          </a:solidFill>
                          <a:latin typeface="Times New Roman"/>
                          <a:ea typeface="Times New Roman"/>
                          <a:cs typeface="Times New Roman"/>
                          <a:sym typeface="Times New Roman"/>
                        </a:rPr>
                        <a:t>TITLE</a:t>
                      </a:r>
                      <a:endParaRPr b="1" sz="21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b="1" lang="en-IN" sz="2100">
                          <a:solidFill>
                            <a:schemeClr val="dk1"/>
                          </a:solidFill>
                          <a:latin typeface="Times New Roman"/>
                          <a:ea typeface="Times New Roman"/>
                          <a:cs typeface="Times New Roman"/>
                          <a:sym typeface="Times New Roman"/>
                        </a:rPr>
                        <a:t>YEAR</a:t>
                      </a:r>
                      <a:endParaRPr/>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b="1" lang="en-IN" sz="2100">
                          <a:solidFill>
                            <a:schemeClr val="dk1"/>
                          </a:solidFill>
                          <a:latin typeface="Times New Roman"/>
                          <a:ea typeface="Times New Roman"/>
                          <a:cs typeface="Times New Roman"/>
                          <a:sym typeface="Times New Roman"/>
                        </a:rPr>
                        <a:t>AUTHOR</a:t>
                      </a:r>
                      <a:endParaRPr sz="1100">
                        <a:solidFill>
                          <a:schemeClr val="dk1"/>
                        </a:solidFill>
                      </a:endParaRPr>
                    </a:p>
                    <a:p>
                      <a:pPr indent="0" lvl="0" marL="0" rtl="0" algn="l">
                        <a:spcBef>
                          <a:spcPts val="0"/>
                        </a:spcBef>
                        <a:spcAft>
                          <a:spcPts val="0"/>
                        </a:spcAft>
                        <a:buNone/>
                      </a:pPr>
                      <a:r>
                        <a:t/>
                      </a:r>
                      <a:endParaRPr/>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b="1" lang="en-IN" sz="2100">
                          <a:solidFill>
                            <a:schemeClr val="dk1"/>
                          </a:solidFill>
                          <a:latin typeface="Times New Roman"/>
                          <a:ea typeface="Times New Roman"/>
                          <a:cs typeface="Times New Roman"/>
                          <a:sym typeface="Times New Roman"/>
                        </a:rPr>
                        <a:t>INFERENCE</a:t>
                      </a:r>
                      <a:endParaRPr sz="1100">
                        <a:solidFill>
                          <a:schemeClr val="dk1"/>
                        </a:solidFill>
                      </a:endParaRPr>
                    </a:p>
                    <a:p>
                      <a:pPr indent="0" lvl="0" marL="0" rtl="0" algn="l">
                        <a:spcBef>
                          <a:spcPts val="0"/>
                        </a:spcBef>
                        <a:spcAft>
                          <a:spcPts val="0"/>
                        </a:spcAft>
                        <a:buNone/>
                      </a:pPr>
                      <a:r>
                        <a:t/>
                      </a:r>
                      <a:endParaRPr/>
                    </a:p>
                  </a:txBody>
                  <a:tcPr marT="91425" marB="91425" marR="91425" marL="91425"/>
                </a:tc>
              </a:tr>
              <a:tr h="2248325">
                <a:tc>
                  <a:txBody>
                    <a:bodyPr/>
                    <a:lstStyle/>
                    <a:p>
                      <a:pPr indent="0" lvl="0" marL="0" rtl="0" algn="l">
                        <a:spcBef>
                          <a:spcPts val="0"/>
                        </a:spcBef>
                        <a:spcAft>
                          <a:spcPts val="0"/>
                        </a:spcAft>
                        <a:buNone/>
                      </a:pPr>
                      <a:r>
                        <a:rPr lang="en-IN" sz="1600"/>
                        <a:t>5</a:t>
                      </a:r>
                      <a:endParaRPr sz="1600"/>
                    </a:p>
                  </a:txBody>
                  <a:tcPr marT="91425" marB="91425" marR="91425" marL="91425"/>
                </a:tc>
                <a:tc>
                  <a:txBody>
                    <a:bodyPr/>
                    <a:lstStyle/>
                    <a:p>
                      <a:pPr indent="0" lvl="0" marL="0" rtl="0" algn="l">
                        <a:spcBef>
                          <a:spcPts val="0"/>
                        </a:spcBef>
                        <a:spcAft>
                          <a:spcPts val="0"/>
                        </a:spcAft>
                        <a:buNone/>
                      </a:pPr>
                      <a:r>
                        <a:rPr lang="en-IN"/>
                        <a:t>Research on microstructure and mechanical properties of 316L stainless steel fabricated by coaxial electron beam wire feeding additive manufacturing</a:t>
                      </a:r>
                      <a:endParaRPr/>
                    </a:p>
                  </a:txBody>
                  <a:tcPr marT="91425" marB="91425" marR="91425" marL="91425"/>
                </a:tc>
                <a:tc>
                  <a:txBody>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IN"/>
                        <a:t>     </a:t>
                      </a:r>
                      <a:r>
                        <a:rPr lang="en-IN"/>
                        <a:t>2025</a:t>
                      </a:r>
                      <a:endParaRPr/>
                    </a:p>
                  </a:txBody>
                  <a:tcPr marT="91425" marB="91425" marR="91425" marL="91425"/>
                </a:tc>
                <a:tc>
                  <a:txBody>
                    <a:bodyPr/>
                    <a:lstStyle/>
                    <a:p>
                      <a:pPr indent="0" lvl="0" marL="0" rtl="0" algn="l">
                        <a:spcBef>
                          <a:spcPts val="0"/>
                        </a:spcBef>
                        <a:spcAft>
                          <a:spcPts val="0"/>
                        </a:spcAft>
                        <a:buNone/>
                      </a:pPr>
                      <a:r>
                        <a:rPr lang="en-IN"/>
                        <a:t> Hongwei Ding, </a:t>
                      </a:r>
                      <a:r>
                        <a:rPr lang="en-IN"/>
                        <a:t>Ming Chuan</a:t>
                      </a:r>
                      <a:r>
                        <a:rPr lang="en-IN"/>
                        <a:t> Li, Hongyuan Wen, Yihua Shao</a:t>
                      </a:r>
                      <a:endParaRPr/>
                    </a:p>
                  </a:txBody>
                  <a:tcPr marT="91425" marB="91425" marR="91425" marL="91425"/>
                </a:tc>
                <a:tc>
                  <a:txBody>
                    <a:bodyPr/>
                    <a:lstStyle/>
                    <a:p>
                      <a:pPr indent="0" lvl="0" marL="0" rtl="0" algn="l">
                        <a:spcBef>
                          <a:spcPts val="0"/>
                        </a:spcBef>
                        <a:spcAft>
                          <a:spcPts val="0"/>
                        </a:spcAft>
                        <a:buNone/>
                      </a:pPr>
                      <a:r>
                        <a:rPr lang="en-IN"/>
                        <a:t>The study shows that 316L stainless steel fabricated by CAEBWAM exhibits a duplex microstructure (γ-austenite + δ-ferrite) with excellent ductility (&gt;80% elongation). Higher heat input increases cellular spacing, reducing strength but improving elongation. The process demonstrates strong potential for producing high-ductility stainless steel components with controllable mechanical properties.</a:t>
                      </a:r>
                      <a:endParaRPr/>
                    </a:p>
                  </a:txBody>
                  <a:tcPr marT="91425" marB="91425" marR="91425" marL="91425"/>
                </a:tc>
              </a:tr>
              <a:tr h="2544850">
                <a:tc>
                  <a:txBody>
                    <a:bodyPr/>
                    <a:lstStyle/>
                    <a:p>
                      <a:pPr indent="0" lvl="0" marL="0" rtl="0" algn="l">
                        <a:spcBef>
                          <a:spcPts val="0"/>
                        </a:spcBef>
                        <a:spcAft>
                          <a:spcPts val="0"/>
                        </a:spcAft>
                        <a:buNone/>
                      </a:pPr>
                      <a:r>
                        <a:rPr lang="en-IN" sz="1600"/>
                        <a:t>6</a:t>
                      </a:r>
                      <a:endParaRPr sz="1600"/>
                    </a:p>
                  </a:txBody>
                  <a:tcPr marT="91425" marB="91425" marR="91425" marL="91425"/>
                </a:tc>
                <a:tc>
                  <a:txBody>
                    <a:bodyPr/>
                    <a:lstStyle/>
                    <a:p>
                      <a:pPr indent="0" lvl="0" marL="0" rtl="0" algn="l">
                        <a:spcBef>
                          <a:spcPts val="0"/>
                        </a:spcBef>
                        <a:spcAft>
                          <a:spcPts val="0"/>
                        </a:spcAft>
                        <a:buNone/>
                      </a:pPr>
                      <a:r>
                        <a:rPr lang="en-IN"/>
                        <a:t>Wire arc additive manufacturing of dissimilar alloys: Processing strategies and interfacial phenomena</a:t>
                      </a:r>
                      <a:endParaRPr/>
                    </a:p>
                  </a:txBody>
                  <a:tcPr marT="91425" marB="91425" marR="91425" marL="91425"/>
                </a:tc>
                <a:tc>
                  <a:txBody>
                    <a:bodyPr/>
                    <a:lstStyle/>
                    <a:p>
                      <a:pPr indent="0" lvl="0" marL="0" rtl="0" algn="l">
                        <a:spcBef>
                          <a:spcPts val="0"/>
                        </a:spcBef>
                        <a:spcAft>
                          <a:spcPts val="0"/>
                        </a:spcAft>
                        <a:buNone/>
                      </a:pPr>
                      <a:r>
                        <a:rPr lang="en-IN"/>
                        <a:t>    </a:t>
                      </a:r>
                      <a:endParaRPr/>
                    </a:p>
                    <a:p>
                      <a:pPr indent="0" lvl="0" marL="0" rtl="0" algn="l">
                        <a:spcBef>
                          <a:spcPts val="0"/>
                        </a:spcBef>
                        <a:spcAft>
                          <a:spcPts val="0"/>
                        </a:spcAft>
                        <a:buNone/>
                      </a:pPr>
                      <a:r>
                        <a:t/>
                      </a:r>
                      <a:endParaRPr/>
                    </a:p>
                    <a:p>
                      <a:pPr indent="0" lvl="0" marL="0" rtl="0" algn="l">
                        <a:spcBef>
                          <a:spcPts val="0"/>
                        </a:spcBef>
                        <a:spcAft>
                          <a:spcPts val="0"/>
                        </a:spcAft>
                        <a:buNone/>
                      </a:pPr>
                      <a:r>
                        <a:rPr lang="en-IN"/>
                        <a:t>       </a:t>
                      </a:r>
                      <a:r>
                        <a:rPr lang="en-IN"/>
                        <a:t>2025</a:t>
                      </a:r>
                      <a:endParaRPr/>
                    </a:p>
                  </a:txBody>
                  <a:tcPr marT="91425" marB="91425" marR="91425" marL="91425"/>
                </a:tc>
                <a:tc>
                  <a:txBody>
                    <a:bodyPr/>
                    <a:lstStyle/>
                    <a:p>
                      <a:pPr indent="0" lvl="0" marL="0" rtl="0" algn="l">
                        <a:spcBef>
                          <a:spcPts val="0"/>
                        </a:spcBef>
                        <a:spcAft>
                          <a:spcPts val="0"/>
                        </a:spcAft>
                        <a:buNone/>
                      </a:pPr>
                      <a:r>
                        <a:rPr lang="en-IN"/>
                        <a:t>Fei Yang, Canhui Wu, Ruifeng Li, Feng Fang, Liming Dong,</a:t>
                      </a:r>
                      <a:endParaRPr/>
                    </a:p>
                  </a:txBody>
                  <a:tcPr marT="91425" marB="91425" marR="91425" marL="91425"/>
                </a:tc>
                <a:tc>
                  <a:txBody>
                    <a:bodyPr/>
                    <a:lstStyle/>
                    <a:p>
                      <a:pPr indent="0" lvl="0" marL="0" rtl="0" algn="l">
                        <a:spcBef>
                          <a:spcPts val="0"/>
                        </a:spcBef>
                        <a:spcAft>
                          <a:spcPts val="0"/>
                        </a:spcAft>
                        <a:buNone/>
                      </a:pPr>
                      <a:r>
                        <a:rPr lang="en-IN"/>
                        <a:t>This review analyzes processing strategies in WAAM for dissimilar alloys, focusing on interfacial microstructure control and suppression of brittle intermetallic compounds (IMCs). It concludes that optimized deposition architectures—such as gradient structures, intermediate layers, and interwoven strategies—significantly improve mechanical performance and interface reliability of multi-material components</a:t>
                      </a:r>
                      <a:endParaRPr/>
                    </a:p>
                  </a:txBody>
                  <a:tcPr marT="91425" marB="91425" marR="91425" marL="91425"/>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3"/>
          <p:cNvSpPr txBox="1"/>
          <p:nvPr>
            <p:ph type="title"/>
          </p:nvPr>
        </p:nvSpPr>
        <p:spPr>
          <a:xfrm>
            <a:off x="717250" y="0"/>
            <a:ext cx="10515600" cy="8466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1100"/>
              <a:buFont typeface="Arial"/>
              <a:buNone/>
            </a:pPr>
            <a:r>
              <a:rPr lang="en-IN">
                <a:solidFill>
                  <a:srgbClr val="FF0000"/>
                </a:solidFill>
                <a:latin typeface="Times New Roman"/>
                <a:ea typeface="Times New Roman"/>
                <a:cs typeface="Times New Roman"/>
                <a:sym typeface="Times New Roman"/>
              </a:rPr>
              <a:t>                     </a:t>
            </a:r>
            <a:r>
              <a:rPr lang="en-IN">
                <a:solidFill>
                  <a:srgbClr val="FF0000"/>
                </a:solidFill>
                <a:latin typeface="Times New Roman"/>
                <a:ea typeface="Times New Roman"/>
                <a:cs typeface="Times New Roman"/>
                <a:sym typeface="Times New Roman"/>
              </a:rPr>
              <a:t>Literature Review</a:t>
            </a:r>
            <a:endParaRPr sz="3200">
              <a:latin typeface="Times New Roman"/>
              <a:ea typeface="Times New Roman"/>
              <a:cs typeface="Times New Roman"/>
              <a:sym typeface="Times New Roman"/>
            </a:endParaRPr>
          </a:p>
        </p:txBody>
      </p:sp>
      <p:sp>
        <p:nvSpPr>
          <p:cNvPr id="175" name="Google Shape;175;p23"/>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graphicFrame>
        <p:nvGraphicFramePr>
          <p:cNvPr id="176" name="Google Shape;176;p23"/>
          <p:cNvGraphicFramePr/>
          <p:nvPr/>
        </p:nvGraphicFramePr>
        <p:xfrm>
          <a:off x="128525" y="719300"/>
          <a:ext cx="3000000" cy="3000000"/>
        </p:xfrm>
        <a:graphic>
          <a:graphicData uri="http://schemas.openxmlformats.org/drawingml/2006/table">
            <a:tbl>
              <a:tblPr>
                <a:noFill/>
                <a:tableStyleId>{59E93DEC-B814-473E-B6FB-395829DA1DCD}</a:tableStyleId>
              </a:tblPr>
              <a:tblGrid>
                <a:gridCol w="801425"/>
                <a:gridCol w="4092900"/>
                <a:gridCol w="1592125"/>
                <a:gridCol w="2538675"/>
                <a:gridCol w="2909825"/>
              </a:tblGrid>
              <a:tr h="708875">
                <a:tc>
                  <a:txBody>
                    <a:bodyPr/>
                    <a:lstStyle/>
                    <a:p>
                      <a:pPr indent="0" lvl="0" marL="0" rtl="0" algn="l">
                        <a:lnSpc>
                          <a:spcPct val="115000"/>
                        </a:lnSpc>
                        <a:spcBef>
                          <a:spcPts val="0"/>
                        </a:spcBef>
                        <a:spcAft>
                          <a:spcPts val="0"/>
                        </a:spcAft>
                        <a:buNone/>
                      </a:pPr>
                      <a:r>
                        <a:rPr b="1" lang="en-IN" sz="2100">
                          <a:solidFill>
                            <a:schemeClr val="dk1"/>
                          </a:solidFill>
                        </a:rPr>
                        <a:t>S.No</a:t>
                      </a:r>
                      <a:endParaRPr sz="1500"/>
                    </a:p>
                  </a:txBody>
                  <a:tcPr marT="91425" marB="91425" marR="91425" marL="91425"/>
                </a:tc>
                <a:tc>
                  <a:txBody>
                    <a:bodyPr/>
                    <a:lstStyle/>
                    <a:p>
                      <a:pPr indent="0" lvl="0" marL="0" rtl="0" algn="ctr">
                        <a:spcBef>
                          <a:spcPts val="0"/>
                        </a:spcBef>
                        <a:spcAft>
                          <a:spcPts val="0"/>
                        </a:spcAft>
                        <a:buNone/>
                      </a:pPr>
                      <a:r>
                        <a:rPr b="1" lang="en-IN" sz="2100">
                          <a:solidFill>
                            <a:schemeClr val="dk1"/>
                          </a:solidFill>
                        </a:rPr>
                        <a:t>TITLE</a:t>
                      </a:r>
                      <a:endParaRPr sz="1500"/>
                    </a:p>
                  </a:txBody>
                  <a:tcPr marT="91425" marB="91425" marR="91425" marL="91425"/>
                </a:tc>
                <a:tc>
                  <a:txBody>
                    <a:bodyPr/>
                    <a:lstStyle/>
                    <a:p>
                      <a:pPr indent="0" lvl="0" marL="0" rtl="0" algn="ctr">
                        <a:spcBef>
                          <a:spcPts val="0"/>
                        </a:spcBef>
                        <a:spcAft>
                          <a:spcPts val="0"/>
                        </a:spcAft>
                        <a:buNone/>
                      </a:pPr>
                      <a:r>
                        <a:rPr b="1" lang="en-IN" sz="2100">
                          <a:solidFill>
                            <a:schemeClr val="dk1"/>
                          </a:solidFill>
                        </a:rPr>
                        <a:t>YEAR</a:t>
                      </a:r>
                      <a:endParaRPr b="1" sz="2000">
                        <a:solidFill>
                          <a:schemeClr val="dk1"/>
                        </a:solidFill>
                      </a:endParaRPr>
                    </a:p>
                    <a:p>
                      <a:pPr indent="0" lvl="0" marL="0" rtl="0" algn="l">
                        <a:spcBef>
                          <a:spcPts val="0"/>
                        </a:spcBef>
                        <a:spcAft>
                          <a:spcPts val="0"/>
                        </a:spcAft>
                        <a:buNone/>
                      </a:pPr>
                      <a:r>
                        <a:t/>
                      </a:r>
                      <a:endParaRPr/>
                    </a:p>
                  </a:txBody>
                  <a:tcPr marT="91425" marB="91425" marR="91425" marL="91425"/>
                </a:tc>
                <a:tc>
                  <a:txBody>
                    <a:bodyPr/>
                    <a:lstStyle/>
                    <a:p>
                      <a:pPr indent="0" lvl="0" marL="0" rtl="0" algn="ctr">
                        <a:spcBef>
                          <a:spcPts val="0"/>
                        </a:spcBef>
                        <a:spcAft>
                          <a:spcPts val="0"/>
                        </a:spcAft>
                        <a:buNone/>
                      </a:pPr>
                      <a:r>
                        <a:rPr b="1" lang="en-IN" sz="2100">
                          <a:solidFill>
                            <a:schemeClr val="dk1"/>
                          </a:solidFill>
                        </a:rPr>
                        <a:t>AUTHOR</a:t>
                      </a:r>
                      <a:endParaRPr/>
                    </a:p>
                  </a:txBody>
                  <a:tcPr marT="91425" marB="91425" marR="91425" marL="91425"/>
                </a:tc>
                <a:tc>
                  <a:txBody>
                    <a:bodyPr/>
                    <a:lstStyle/>
                    <a:p>
                      <a:pPr indent="0" lvl="0" marL="0" rtl="0" algn="ctr">
                        <a:spcBef>
                          <a:spcPts val="0"/>
                        </a:spcBef>
                        <a:spcAft>
                          <a:spcPts val="0"/>
                        </a:spcAft>
                        <a:buNone/>
                      </a:pPr>
                      <a:r>
                        <a:rPr b="1" lang="en-IN" sz="2100">
                          <a:solidFill>
                            <a:schemeClr val="dk1"/>
                          </a:solidFill>
                        </a:rPr>
                        <a:t>INFERENCE</a:t>
                      </a:r>
                      <a:endParaRPr/>
                    </a:p>
                  </a:txBody>
                  <a:tcPr marT="91425" marB="91425" marR="91425" marL="91425"/>
                </a:tc>
              </a:tr>
              <a:tr h="2594250">
                <a:tc>
                  <a:txBody>
                    <a:bodyPr/>
                    <a:lstStyle/>
                    <a:p>
                      <a:pPr indent="0" lvl="0" marL="0" rtl="0" algn="l">
                        <a:spcBef>
                          <a:spcPts val="0"/>
                        </a:spcBef>
                        <a:spcAft>
                          <a:spcPts val="0"/>
                        </a:spcAft>
                        <a:buNone/>
                      </a:pPr>
                      <a:r>
                        <a:rPr lang="en-IN" sz="1800"/>
                        <a:t>7</a:t>
                      </a:r>
                      <a:endParaRPr sz="1800"/>
                    </a:p>
                  </a:txBody>
                  <a:tcPr marT="91425" marB="91425" marR="91425" marL="91425"/>
                </a:tc>
                <a:tc>
                  <a:txBody>
                    <a:bodyPr/>
                    <a:lstStyle/>
                    <a:p>
                      <a:pPr indent="0" lvl="0" marL="0" rtl="0" algn="l">
                        <a:spcBef>
                          <a:spcPts val="0"/>
                        </a:spcBef>
                        <a:spcAft>
                          <a:spcPts val="0"/>
                        </a:spcAft>
                        <a:buNone/>
                      </a:pPr>
                      <a:r>
                        <a:rPr lang="en-IN"/>
                        <a:t>Experimental investigations on the multi-layered SS316L wall fabricated by CMT-based WAAM: Mechanical and microstructural studies</a:t>
                      </a:r>
                      <a:endParaRPr/>
                    </a:p>
                  </a:txBody>
                  <a:tcPr marT="91425" marB="91425" marR="91425" marL="91425"/>
                </a:tc>
                <a:tc>
                  <a:txBody>
                    <a:bodyPr/>
                    <a:lstStyle/>
                    <a:p>
                      <a:pPr indent="0" lvl="0" marL="0" rtl="0" algn="ctr">
                        <a:spcBef>
                          <a:spcPts val="0"/>
                        </a:spcBef>
                        <a:spcAft>
                          <a:spcPts val="0"/>
                        </a:spcAft>
                        <a:buNone/>
                      </a:pPr>
                      <a:r>
                        <a:rPr lang="en-IN" sz="1600"/>
                        <a:t>2023</a:t>
                      </a:r>
                      <a:endParaRPr sz="1600"/>
                    </a:p>
                  </a:txBody>
                  <a:tcPr marT="91425" marB="91425" marR="91425" marL="91425"/>
                </a:tc>
                <a:tc>
                  <a:txBody>
                    <a:bodyPr/>
                    <a:lstStyle/>
                    <a:p>
                      <a:pPr indent="0" lvl="0" marL="0" rtl="0" algn="l">
                        <a:spcBef>
                          <a:spcPts val="0"/>
                        </a:spcBef>
                        <a:spcAft>
                          <a:spcPts val="0"/>
                        </a:spcAft>
                        <a:buNone/>
                      </a:pPr>
                      <a:r>
                        <a:rPr lang="en-IN"/>
                        <a:t>T.S. Senthila, </a:t>
                      </a:r>
                      <a:endParaRPr/>
                    </a:p>
                    <a:p>
                      <a:pPr indent="0" lvl="0" marL="0" rtl="0" algn="l">
                        <a:spcBef>
                          <a:spcPts val="0"/>
                        </a:spcBef>
                        <a:spcAft>
                          <a:spcPts val="0"/>
                        </a:spcAft>
                        <a:buNone/>
                      </a:pPr>
                      <a:r>
                        <a:rPr lang="en-IN"/>
                        <a:t>S. Ramesh Babub </a:t>
                      </a:r>
                      <a:endParaRPr/>
                    </a:p>
                    <a:p>
                      <a:pPr indent="0" lvl="0" marL="0" rtl="0" algn="l">
                        <a:spcBef>
                          <a:spcPts val="0"/>
                        </a:spcBef>
                        <a:spcAft>
                          <a:spcPts val="0"/>
                        </a:spcAft>
                        <a:buNone/>
                      </a:pPr>
                      <a:r>
                        <a:rPr lang="en-IN"/>
                        <a:t>M. Puviyarasana </a:t>
                      </a:r>
                      <a:endParaRPr/>
                    </a:p>
                    <a:p>
                      <a:pPr indent="0" lvl="0" marL="0" rtl="0" algn="l">
                        <a:spcBef>
                          <a:spcPts val="0"/>
                        </a:spcBef>
                        <a:spcAft>
                          <a:spcPts val="0"/>
                        </a:spcAft>
                        <a:buNone/>
                      </a:pPr>
                      <a:r>
                        <a:rPr lang="en-IN"/>
                        <a:t>V. Sai Balachandara</a:t>
                      </a:r>
                      <a:endParaRPr/>
                    </a:p>
                  </a:txBody>
                  <a:tcPr marT="91425" marB="91425" marR="91425" marL="91425"/>
                </a:tc>
                <a:tc>
                  <a:txBody>
                    <a:bodyPr/>
                    <a:lstStyle/>
                    <a:p>
                      <a:pPr indent="0" lvl="0" marL="0" rtl="0" algn="l">
                        <a:spcBef>
                          <a:spcPts val="0"/>
                        </a:spcBef>
                        <a:spcAft>
                          <a:spcPts val="0"/>
                        </a:spcAft>
                        <a:buNone/>
                      </a:pPr>
                      <a:r>
                        <a:rPr lang="en-IN"/>
                        <a:t>This paper studies a multi-layer SS316L wall made using CMT-based WAAM. The wall had good bonding between layers and no major defects. It showed good strength and ductile behavior. The study concludes that CMT-WAAM is suitable for making strong SS316L components.</a:t>
                      </a:r>
                      <a:endParaRPr/>
                    </a:p>
                  </a:txBody>
                  <a:tcPr marT="91425" marB="91425" marR="91425" marL="91425"/>
                </a:tc>
              </a:tr>
              <a:tr h="2664675">
                <a:tc>
                  <a:txBody>
                    <a:bodyPr/>
                    <a:lstStyle/>
                    <a:p>
                      <a:pPr indent="0" lvl="0" marL="0" rtl="0" algn="l">
                        <a:spcBef>
                          <a:spcPts val="0"/>
                        </a:spcBef>
                        <a:spcAft>
                          <a:spcPts val="0"/>
                        </a:spcAft>
                        <a:buNone/>
                      </a:pPr>
                      <a:r>
                        <a:rPr lang="en-IN" sz="1800"/>
                        <a:t>8</a:t>
                      </a:r>
                      <a:endParaRPr sz="1800"/>
                    </a:p>
                  </a:txBody>
                  <a:tcPr marT="91425" marB="91425" marR="91425" marL="91425"/>
                </a:tc>
                <a:tc>
                  <a:txBody>
                    <a:bodyPr/>
                    <a:lstStyle/>
                    <a:p>
                      <a:pPr indent="0" lvl="0" marL="0" rtl="0" algn="l">
                        <a:spcBef>
                          <a:spcPts val="0"/>
                        </a:spcBef>
                        <a:spcAft>
                          <a:spcPts val="0"/>
                        </a:spcAft>
                        <a:buNone/>
                      </a:pPr>
                      <a:r>
                        <a:rPr lang="en-IN"/>
                        <a:t>Influence of process parameters on microstructure and mechanical behavior of WAAM stainless steel</a:t>
                      </a:r>
                      <a:endParaRPr/>
                    </a:p>
                  </a:txBody>
                  <a:tcPr marT="91425" marB="91425" marR="91425" marL="91425"/>
                </a:tc>
                <a:tc>
                  <a:txBody>
                    <a:bodyPr/>
                    <a:lstStyle/>
                    <a:p>
                      <a:pPr indent="0" lvl="0" marL="0" rtl="0" algn="ctr">
                        <a:spcBef>
                          <a:spcPts val="0"/>
                        </a:spcBef>
                        <a:spcAft>
                          <a:spcPts val="0"/>
                        </a:spcAft>
                        <a:buNone/>
                      </a:pPr>
                      <a:r>
                        <a:rPr lang="en-IN" sz="1600"/>
                        <a:t>2024</a:t>
                      </a:r>
                      <a:endParaRPr sz="1600"/>
                    </a:p>
                  </a:txBody>
                  <a:tcPr marT="91425" marB="91425" marR="91425" marL="91425"/>
                </a:tc>
                <a:tc>
                  <a:txBody>
                    <a:bodyPr/>
                    <a:lstStyle/>
                    <a:p>
                      <a:pPr indent="0" lvl="0" marL="0" rtl="0" algn="l">
                        <a:spcBef>
                          <a:spcPts val="0"/>
                        </a:spcBef>
                        <a:spcAft>
                          <a:spcPts val="0"/>
                        </a:spcAft>
                        <a:buNone/>
                      </a:pPr>
                      <a:r>
                        <a:rPr lang="en-IN"/>
                        <a:t>A. Singh et al.</a:t>
                      </a:r>
                      <a:endParaRPr/>
                    </a:p>
                  </a:txBody>
                  <a:tcPr marT="91425" marB="91425" marR="91425" marL="91425"/>
                </a:tc>
                <a:tc>
                  <a:txBody>
                    <a:bodyPr/>
                    <a:lstStyle/>
                    <a:p>
                      <a:pPr indent="0" lvl="0" marL="0" rtl="0" algn="l">
                        <a:spcBef>
                          <a:spcPts val="0"/>
                        </a:spcBef>
                        <a:spcAft>
                          <a:spcPts val="0"/>
                        </a:spcAft>
                        <a:buNone/>
                      </a:pPr>
                      <a:r>
                        <a:rPr lang="en-IN"/>
                        <a:t> This paper studies the effect of heat input and deposition strategy on microstructure and hardness. It found that higher heat input increased grain size and slightly reduced hardness. The study concludes that controlling process parameters is critical for improving mechanical strength and quality of WAAM stainless steel parts.                                       </a:t>
                      </a:r>
                      <a:endParaRPr/>
                    </a:p>
                  </a:txBody>
                  <a:tcPr marT="91425" marB="91425" marR="91425" marL="91425"/>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4"/>
          <p:cNvSpPr txBox="1"/>
          <p:nvPr>
            <p:ph type="title"/>
          </p:nvPr>
        </p:nvSpPr>
        <p:spPr>
          <a:xfrm>
            <a:off x="723900" y="102800"/>
            <a:ext cx="10515600" cy="635100"/>
          </a:xfrm>
          <a:prstGeom prst="rect">
            <a:avLst/>
          </a:prstGeom>
        </p:spPr>
        <p:txBody>
          <a:bodyPr anchorCtr="0" anchor="ctr" bIns="45700" lIns="91425" spcFirstLastPara="1" rIns="91425" wrap="square" tIns="45700">
            <a:normAutofit fontScale="90000"/>
          </a:bodyPr>
          <a:lstStyle/>
          <a:p>
            <a:pPr indent="0" lvl="0" marL="0" rtl="0" algn="ctr">
              <a:spcBef>
                <a:spcPts val="0"/>
              </a:spcBef>
              <a:spcAft>
                <a:spcPts val="0"/>
              </a:spcAft>
              <a:buNone/>
            </a:pPr>
            <a:r>
              <a:rPr lang="en-IN">
                <a:solidFill>
                  <a:srgbClr val="FF0000"/>
                </a:solidFill>
                <a:latin typeface="Times New Roman"/>
                <a:ea typeface="Times New Roman"/>
                <a:cs typeface="Times New Roman"/>
                <a:sym typeface="Times New Roman"/>
              </a:rPr>
              <a:t>Literature Review</a:t>
            </a:r>
            <a:endParaRPr>
              <a:latin typeface="Times New Roman"/>
              <a:ea typeface="Times New Roman"/>
              <a:cs typeface="Times New Roman"/>
              <a:sym typeface="Times New Roman"/>
            </a:endParaRPr>
          </a:p>
        </p:txBody>
      </p:sp>
      <p:sp>
        <p:nvSpPr>
          <p:cNvPr id="183" name="Google Shape;183;p24"/>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graphicFrame>
        <p:nvGraphicFramePr>
          <p:cNvPr id="184" name="Google Shape;184;p24"/>
          <p:cNvGraphicFramePr/>
          <p:nvPr/>
        </p:nvGraphicFramePr>
        <p:xfrm>
          <a:off x="176125" y="768475"/>
          <a:ext cx="3000000" cy="3000000"/>
        </p:xfrm>
        <a:graphic>
          <a:graphicData uri="http://schemas.openxmlformats.org/drawingml/2006/table">
            <a:tbl>
              <a:tblPr>
                <a:noFill/>
                <a:tableStyleId>{59E93DEC-B814-473E-B6FB-395829DA1DCD}</a:tableStyleId>
              </a:tblPr>
              <a:tblGrid>
                <a:gridCol w="867725"/>
                <a:gridCol w="3572900"/>
                <a:gridCol w="1673375"/>
                <a:gridCol w="2338625"/>
                <a:gridCol w="3321350"/>
              </a:tblGrid>
              <a:tr h="639075">
                <a:tc>
                  <a:txBody>
                    <a:bodyPr/>
                    <a:lstStyle/>
                    <a:p>
                      <a:pPr indent="0" lvl="0" marL="0" rtl="0" algn="l">
                        <a:lnSpc>
                          <a:spcPct val="115000"/>
                        </a:lnSpc>
                        <a:spcBef>
                          <a:spcPts val="0"/>
                        </a:spcBef>
                        <a:spcAft>
                          <a:spcPts val="0"/>
                        </a:spcAft>
                        <a:buClr>
                          <a:schemeClr val="dk1"/>
                        </a:buClr>
                        <a:buSzPts val="1100"/>
                        <a:buFont typeface="Arial"/>
                        <a:buNone/>
                      </a:pPr>
                      <a:r>
                        <a:rPr b="1" lang="en-IN" sz="2100">
                          <a:solidFill>
                            <a:schemeClr val="dk1"/>
                          </a:solidFill>
                        </a:rPr>
                        <a:t>S.No</a:t>
                      </a:r>
                      <a:endParaRPr/>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b="1" lang="en-IN" sz="2100">
                          <a:solidFill>
                            <a:schemeClr val="dk1"/>
                          </a:solidFill>
                        </a:rPr>
                        <a:t>TITLE</a:t>
                      </a:r>
                      <a:endParaRPr/>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b="1" lang="en-IN" sz="2100">
                          <a:solidFill>
                            <a:schemeClr val="dk1"/>
                          </a:solidFill>
                        </a:rPr>
                        <a:t>YEAR</a:t>
                      </a:r>
                      <a:endParaRPr/>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b="1" lang="en-IN" sz="2100">
                          <a:solidFill>
                            <a:schemeClr val="dk1"/>
                          </a:solidFill>
                        </a:rPr>
                        <a:t>AUTHOR</a:t>
                      </a:r>
                      <a:endParaRPr/>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b="1" lang="en-IN" sz="2100">
                          <a:solidFill>
                            <a:schemeClr val="dk1"/>
                          </a:solidFill>
                        </a:rPr>
                        <a:t>INFERENCE</a:t>
                      </a:r>
                      <a:endParaRPr/>
                    </a:p>
                  </a:txBody>
                  <a:tcPr marT="91425" marB="91425" marR="91425" marL="91425"/>
                </a:tc>
              </a:tr>
              <a:tr h="2514200">
                <a:tc>
                  <a:txBody>
                    <a:bodyPr/>
                    <a:lstStyle/>
                    <a:p>
                      <a:pPr indent="0" lvl="0" marL="0" rtl="0" algn="l">
                        <a:spcBef>
                          <a:spcPts val="0"/>
                        </a:spcBef>
                        <a:spcAft>
                          <a:spcPts val="0"/>
                        </a:spcAft>
                        <a:buNone/>
                      </a:pPr>
                      <a:r>
                        <a:rPr lang="en-IN" sz="1600"/>
                        <a:t>9</a:t>
                      </a:r>
                      <a:endParaRPr sz="1600"/>
                    </a:p>
                  </a:txBody>
                  <a:tcPr marT="91425" marB="91425" marR="91425" marL="91425"/>
                </a:tc>
                <a:tc>
                  <a:txBody>
                    <a:bodyPr/>
                    <a:lstStyle/>
                    <a:p>
                      <a:pPr indent="0" lvl="0" marL="0" rtl="0" algn="l">
                        <a:spcBef>
                          <a:spcPts val="0"/>
                        </a:spcBef>
                        <a:spcAft>
                          <a:spcPts val="0"/>
                        </a:spcAft>
                        <a:buNone/>
                      </a:pPr>
                      <a:r>
                        <a:rPr lang="en-IN"/>
                        <a:t>Microstructural and mechanical properties examination of SS316L–Cu functionally graded material fabricated by wire arc additive manufacturing</a:t>
                      </a:r>
                      <a:endParaRPr/>
                    </a:p>
                  </a:txBody>
                  <a:tcPr marT="91425" marB="91425" marR="91425" marL="91425"/>
                </a:tc>
                <a:tc>
                  <a:txBody>
                    <a:bodyPr/>
                    <a:lstStyle/>
                    <a:p>
                      <a:pPr indent="0" lvl="0" marL="0" rtl="0" algn="ctr">
                        <a:spcBef>
                          <a:spcPts val="0"/>
                        </a:spcBef>
                        <a:spcAft>
                          <a:spcPts val="0"/>
                        </a:spcAft>
                        <a:buNone/>
                      </a:pPr>
                      <a:r>
                        <a:rPr lang="en-IN" sz="1600"/>
                        <a:t>2024 </a:t>
                      </a:r>
                      <a:endParaRPr sz="1600"/>
                    </a:p>
                  </a:txBody>
                  <a:tcPr marT="91425" marB="91425" marR="91425" marL="91425"/>
                </a:tc>
                <a:tc>
                  <a:txBody>
                    <a:bodyPr/>
                    <a:lstStyle/>
                    <a:p>
                      <a:pPr indent="0" lvl="0" marL="0" rtl="0" algn="l">
                        <a:spcBef>
                          <a:spcPts val="0"/>
                        </a:spcBef>
                        <a:spcAft>
                          <a:spcPts val="0"/>
                        </a:spcAft>
                        <a:buNone/>
                      </a:pPr>
                      <a:r>
                        <a:rPr lang="en-IN"/>
                        <a:t>Bunty Tomar</a:t>
                      </a:r>
                      <a:endParaRPr/>
                    </a:p>
                    <a:p>
                      <a:pPr indent="0" lvl="0" marL="0" rtl="0" algn="l">
                        <a:spcBef>
                          <a:spcPts val="0"/>
                        </a:spcBef>
                        <a:spcAft>
                          <a:spcPts val="0"/>
                        </a:spcAft>
                        <a:buNone/>
                      </a:pPr>
                      <a:r>
                        <a:rPr lang="en-IN"/>
                        <a:t>S. Shiva</a:t>
                      </a:r>
                      <a:endParaRPr/>
                    </a:p>
                  </a:txBody>
                  <a:tcPr marT="91425" marB="91425" marR="91425" marL="91425"/>
                </a:tc>
                <a:tc>
                  <a:txBody>
                    <a:bodyPr/>
                    <a:lstStyle/>
                    <a:p>
                      <a:pPr indent="0" lvl="0" marL="0" rtl="0" algn="l">
                        <a:spcBef>
                          <a:spcPts val="0"/>
                        </a:spcBef>
                        <a:spcAft>
                          <a:spcPts val="0"/>
                        </a:spcAft>
                        <a:buNone/>
                      </a:pPr>
                      <a:r>
                        <a:rPr lang="en-IN"/>
                        <a:t>This paper investigates SS316L–Cu functionally graded material made using CMT-WAAM. The interface was defect-free with smooth compositional transition and good bonding strength. The fabricated material showed high tensile strength and ductile behavior. The study concludes that WAAM is effective for producing strong and reliable graded materials.</a:t>
                      </a:r>
                      <a:endParaRPr/>
                    </a:p>
                  </a:txBody>
                  <a:tcPr marT="91425" marB="91425" marR="91425" marL="91425"/>
                </a:tc>
              </a:tr>
              <a:tr h="2616450">
                <a:tc>
                  <a:txBody>
                    <a:bodyPr/>
                    <a:lstStyle/>
                    <a:p>
                      <a:pPr indent="0" lvl="0" marL="0" rtl="0" algn="l">
                        <a:spcBef>
                          <a:spcPts val="0"/>
                        </a:spcBef>
                        <a:spcAft>
                          <a:spcPts val="0"/>
                        </a:spcAft>
                        <a:buNone/>
                      </a:pPr>
                      <a:r>
                        <a:rPr lang="en-IN" sz="1600"/>
                        <a:t>10</a:t>
                      </a:r>
                      <a:endParaRPr sz="1600"/>
                    </a:p>
                  </a:txBody>
                  <a:tcPr marT="91425" marB="91425" marR="91425" marL="91425"/>
                </a:tc>
                <a:tc>
                  <a:txBody>
                    <a:bodyPr/>
                    <a:lstStyle/>
                    <a:p>
                      <a:pPr indent="0" lvl="0" marL="0" rtl="0" algn="l">
                        <a:spcBef>
                          <a:spcPts val="0"/>
                        </a:spcBef>
                        <a:spcAft>
                          <a:spcPts val="0"/>
                        </a:spcAft>
                        <a:buNone/>
                      </a:pPr>
                      <a:r>
                        <a:rPr lang="en-IN"/>
                        <a:t>Mechanical properties and microstructure of SS 316L created by WAAM based on GMAW</a:t>
                      </a:r>
                      <a:endParaRPr/>
                    </a:p>
                  </a:txBody>
                  <a:tcPr marT="91425" marB="91425" marR="91425" marL="91425"/>
                </a:tc>
                <a:tc>
                  <a:txBody>
                    <a:bodyPr/>
                    <a:lstStyle/>
                    <a:p>
                      <a:pPr indent="0" lvl="0" marL="0" rtl="0" algn="ctr">
                        <a:spcBef>
                          <a:spcPts val="0"/>
                        </a:spcBef>
                        <a:spcAft>
                          <a:spcPts val="0"/>
                        </a:spcAft>
                        <a:buNone/>
                      </a:pPr>
                      <a:r>
                        <a:rPr lang="en-IN" sz="1600"/>
                        <a:t>2024</a:t>
                      </a:r>
                      <a:endParaRPr sz="1600"/>
                    </a:p>
                  </a:txBody>
                  <a:tcPr marT="91425" marB="91425" marR="91425" marL="91425"/>
                </a:tc>
                <a:tc>
                  <a:txBody>
                    <a:bodyPr/>
                    <a:lstStyle/>
                    <a:p>
                      <a:pPr indent="0" lvl="0" marL="0" rtl="0" algn="l">
                        <a:spcBef>
                          <a:spcPts val="0"/>
                        </a:spcBef>
                        <a:spcAft>
                          <a:spcPts val="0"/>
                        </a:spcAft>
                        <a:buNone/>
                      </a:pPr>
                      <a:r>
                        <a:rPr lang="en-IN"/>
                        <a:t>Chandramoha</a:t>
                      </a:r>
                      <a:r>
                        <a:rPr lang="en-IN"/>
                        <a:t>n </a:t>
                      </a:r>
                      <a:r>
                        <a:rPr lang="en-IN"/>
                        <a:t>Sasikumar </a:t>
                      </a:r>
                      <a:endParaRPr/>
                    </a:p>
                    <a:p>
                      <a:pPr indent="0" lvl="0" marL="0" rtl="0" algn="l">
                        <a:spcBef>
                          <a:spcPts val="0"/>
                        </a:spcBef>
                        <a:spcAft>
                          <a:spcPts val="0"/>
                        </a:spcAft>
                        <a:buNone/>
                      </a:pPr>
                      <a:r>
                        <a:rPr lang="en-IN"/>
                        <a:t>R. Oyyaravelu</a:t>
                      </a:r>
                      <a:endParaRPr/>
                    </a:p>
                  </a:txBody>
                  <a:tcPr marT="91425" marB="91425" marR="91425" marL="91425"/>
                </a:tc>
                <a:tc>
                  <a:txBody>
                    <a:bodyPr/>
                    <a:lstStyle/>
                    <a:p>
                      <a:pPr indent="0" lvl="0" marL="0" rtl="0" algn="l">
                        <a:spcBef>
                          <a:spcPts val="0"/>
                        </a:spcBef>
                        <a:spcAft>
                          <a:spcPts val="0"/>
                        </a:spcAft>
                        <a:buNone/>
                      </a:pPr>
                      <a:r>
                        <a:rPr lang="en-IN"/>
                        <a:t>This paper studies SS316L fabricated using GMAW-based WAAM. The fabricated wall showed good bonding between layers with no major defects. The material exhibited good tensile strength, impact strength, hardness, and wear resistance with ductile fracture behavior. The study concludes that WAAM is a reliable method to produce SS316L components suitable for industrial applications.</a:t>
                      </a:r>
                      <a:endParaRPr/>
                    </a:p>
                  </a:txBody>
                  <a:tcPr marT="91425" marB="91425" marR="91425" marL="91425"/>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5"/>
          <p:cNvSpPr txBox="1"/>
          <p:nvPr>
            <p:ph type="title"/>
          </p:nvPr>
        </p:nvSpPr>
        <p:spPr>
          <a:xfrm>
            <a:off x="838200" y="111875"/>
            <a:ext cx="10515600" cy="7107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IN" sz="3200">
                <a:solidFill>
                  <a:srgbClr val="FF0000"/>
                </a:solidFill>
                <a:latin typeface="Times New Roman"/>
                <a:ea typeface="Times New Roman"/>
                <a:cs typeface="Times New Roman"/>
                <a:sym typeface="Times New Roman"/>
              </a:rPr>
              <a:t>RESEARCH GAP</a:t>
            </a:r>
            <a:endParaRPr sz="3200">
              <a:solidFill>
                <a:srgbClr val="FF0000"/>
              </a:solidFill>
              <a:latin typeface="Times New Roman"/>
              <a:ea typeface="Times New Roman"/>
              <a:cs typeface="Times New Roman"/>
              <a:sym typeface="Times New Roman"/>
            </a:endParaRPr>
          </a:p>
        </p:txBody>
      </p:sp>
      <p:sp>
        <p:nvSpPr>
          <p:cNvPr id="191" name="Google Shape;191;p25"/>
          <p:cNvSpPr txBox="1"/>
          <p:nvPr>
            <p:ph idx="1" type="body"/>
          </p:nvPr>
        </p:nvSpPr>
        <p:spPr>
          <a:xfrm>
            <a:off x="305400" y="822575"/>
            <a:ext cx="11445000" cy="5684700"/>
          </a:xfrm>
          <a:prstGeom prst="rect">
            <a:avLst/>
          </a:prstGeom>
        </p:spPr>
        <p:txBody>
          <a:bodyPr anchorCtr="0" anchor="t" bIns="45700" lIns="91425" spcFirstLastPara="1" rIns="91425" wrap="square" tIns="45700">
            <a:noAutofit/>
          </a:bodyPr>
          <a:lstStyle/>
          <a:p>
            <a:pPr indent="-387350" lvl="0" marL="457200" rtl="0" algn="l">
              <a:lnSpc>
                <a:spcPct val="115000"/>
              </a:lnSpc>
              <a:spcBef>
                <a:spcPts val="1200"/>
              </a:spcBef>
              <a:spcAft>
                <a:spcPts val="0"/>
              </a:spcAft>
              <a:buSzPts val="2500"/>
              <a:buChar char="•"/>
            </a:pPr>
            <a:r>
              <a:rPr lang="en-IN" sz="2500">
                <a:latin typeface="Arial"/>
                <a:ea typeface="Arial"/>
                <a:cs typeface="Arial"/>
                <a:sym typeface="Arial"/>
              </a:rPr>
              <a:t>Several studies have investigated WAAM fabrication of SS316L, focusing mainly on general mechanical properties and process feasibility.</a:t>
            </a:r>
            <a:endParaRPr sz="2500">
              <a:latin typeface="Arial"/>
              <a:ea typeface="Arial"/>
              <a:cs typeface="Arial"/>
              <a:sym typeface="Arial"/>
            </a:endParaRPr>
          </a:p>
          <a:p>
            <a:pPr indent="-387350" lvl="0" marL="457200" rtl="0" algn="l">
              <a:lnSpc>
                <a:spcPct val="115000"/>
              </a:lnSpc>
              <a:spcBef>
                <a:spcPts val="0"/>
              </a:spcBef>
              <a:spcAft>
                <a:spcPts val="0"/>
              </a:spcAft>
              <a:buSzPts val="2500"/>
              <a:buChar char="•"/>
            </a:pPr>
            <a:r>
              <a:rPr lang="en-IN" sz="2500">
                <a:latin typeface="Arial"/>
                <a:ea typeface="Arial"/>
                <a:cs typeface="Arial"/>
                <a:sym typeface="Arial"/>
              </a:rPr>
              <a:t>Limited research has been reported on systematic parameter optimization using MIG-based WAAM systems.</a:t>
            </a:r>
            <a:endParaRPr sz="2500">
              <a:latin typeface="Arial"/>
              <a:ea typeface="Arial"/>
              <a:cs typeface="Arial"/>
              <a:sym typeface="Arial"/>
            </a:endParaRPr>
          </a:p>
          <a:p>
            <a:pPr indent="-387350" lvl="0" marL="457200" rtl="0" algn="l">
              <a:lnSpc>
                <a:spcPct val="115000"/>
              </a:lnSpc>
              <a:spcBef>
                <a:spcPts val="0"/>
              </a:spcBef>
              <a:spcAft>
                <a:spcPts val="0"/>
              </a:spcAft>
              <a:buSzPts val="2500"/>
              <a:buChar char="•"/>
            </a:pPr>
            <a:r>
              <a:rPr lang="en-IN" sz="2500">
                <a:latin typeface="Arial"/>
                <a:ea typeface="Arial"/>
                <a:cs typeface="Arial"/>
                <a:sym typeface="Arial"/>
              </a:rPr>
              <a:t>Insufficient studies correlate:</a:t>
            </a:r>
            <a:endParaRPr sz="2500">
              <a:latin typeface="Arial"/>
              <a:ea typeface="Arial"/>
              <a:cs typeface="Arial"/>
              <a:sym typeface="Arial"/>
            </a:endParaRPr>
          </a:p>
          <a:p>
            <a:pPr indent="-387350" lvl="0" marL="457200" rtl="0" algn="l">
              <a:lnSpc>
                <a:spcPct val="115000"/>
              </a:lnSpc>
              <a:spcBef>
                <a:spcPts val="0"/>
              </a:spcBef>
              <a:spcAft>
                <a:spcPts val="0"/>
              </a:spcAft>
              <a:buSzPts val="2500"/>
              <a:buChar char="•"/>
            </a:pPr>
            <a:r>
              <a:rPr lang="en-IN" sz="2500">
                <a:latin typeface="Arial"/>
                <a:ea typeface="Arial"/>
                <a:cs typeface="Arial"/>
                <a:sym typeface="Arial"/>
              </a:rPr>
              <a:t>Process parameters (current, voltage, welding speed)</a:t>
            </a:r>
            <a:endParaRPr sz="2500">
              <a:latin typeface="Arial"/>
              <a:ea typeface="Arial"/>
              <a:cs typeface="Arial"/>
              <a:sym typeface="Arial"/>
            </a:endParaRPr>
          </a:p>
          <a:p>
            <a:pPr indent="-387350" lvl="0" marL="457200" rtl="0" algn="l">
              <a:lnSpc>
                <a:spcPct val="115000"/>
              </a:lnSpc>
              <a:spcBef>
                <a:spcPts val="0"/>
              </a:spcBef>
              <a:spcAft>
                <a:spcPts val="0"/>
              </a:spcAft>
              <a:buSzPts val="2500"/>
              <a:buChar char="•"/>
            </a:pPr>
            <a:r>
              <a:rPr lang="en-IN" sz="2500">
                <a:latin typeface="Arial"/>
                <a:ea typeface="Arial"/>
                <a:cs typeface="Arial"/>
                <a:sym typeface="Arial"/>
              </a:rPr>
              <a:t>Microstructural evolution (grain orientation, phase distribution using EBSD)</a:t>
            </a:r>
            <a:endParaRPr sz="2500">
              <a:latin typeface="Arial"/>
              <a:ea typeface="Arial"/>
              <a:cs typeface="Arial"/>
              <a:sym typeface="Arial"/>
            </a:endParaRPr>
          </a:p>
          <a:p>
            <a:pPr indent="-387350" lvl="0" marL="457200" rtl="0" algn="l">
              <a:lnSpc>
                <a:spcPct val="115000"/>
              </a:lnSpc>
              <a:spcBef>
                <a:spcPts val="0"/>
              </a:spcBef>
              <a:spcAft>
                <a:spcPts val="0"/>
              </a:spcAft>
              <a:buSzPts val="2500"/>
              <a:buChar char="•"/>
            </a:pPr>
            <a:r>
              <a:rPr lang="en-IN" sz="2500">
                <a:latin typeface="Arial"/>
                <a:ea typeface="Arial"/>
                <a:cs typeface="Arial"/>
                <a:sym typeface="Arial"/>
              </a:rPr>
              <a:t>Mechanical performance (tensile, impact, hardness)</a:t>
            </a:r>
            <a:endParaRPr sz="2500">
              <a:latin typeface="Arial"/>
              <a:ea typeface="Arial"/>
              <a:cs typeface="Arial"/>
              <a:sym typeface="Arial"/>
            </a:endParaRPr>
          </a:p>
          <a:p>
            <a:pPr indent="-387350" lvl="0" marL="457200" rtl="0" algn="l">
              <a:lnSpc>
                <a:spcPct val="115000"/>
              </a:lnSpc>
              <a:spcBef>
                <a:spcPts val="0"/>
              </a:spcBef>
              <a:spcAft>
                <a:spcPts val="0"/>
              </a:spcAft>
              <a:buSzPts val="2500"/>
              <a:buChar char="•"/>
            </a:pPr>
            <a:r>
              <a:rPr lang="en-IN" sz="2500">
                <a:latin typeface="Arial"/>
                <a:ea typeface="Arial"/>
                <a:cs typeface="Arial"/>
                <a:sym typeface="Arial"/>
              </a:rPr>
              <a:t>The influence of optimized deposition parameters on the combined mechanical and metallurgical behavior of WAAM-fabricated SS316L requires further investigation.</a:t>
            </a:r>
            <a:endParaRPr sz="2500">
              <a:latin typeface="Arial"/>
              <a:ea typeface="Arial"/>
              <a:cs typeface="Arial"/>
              <a:sym typeface="Arial"/>
            </a:endParaRPr>
          </a:p>
          <a:p>
            <a:pPr indent="0" lvl="0" marL="0" rtl="0" algn="l">
              <a:spcBef>
                <a:spcPts val="1200"/>
              </a:spcBef>
              <a:spcAft>
                <a:spcPts val="0"/>
              </a:spcAft>
              <a:buNone/>
            </a:pPr>
            <a:r>
              <a:t/>
            </a:r>
            <a:endParaRPr/>
          </a:p>
        </p:txBody>
      </p:sp>
      <p:sp>
        <p:nvSpPr>
          <p:cNvPr id="192" name="Google Shape;192;p25"/>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6"/>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pic>
        <p:nvPicPr>
          <p:cNvPr id="199" name="Google Shape;199;p26" title="waam methodology final.png"/>
          <p:cNvPicPr preferRelativeResize="0"/>
          <p:nvPr/>
        </p:nvPicPr>
        <p:blipFill rotWithShape="1">
          <a:blip r:embed="rId3">
            <a:alphaModFix/>
          </a:blip>
          <a:srcRect b="17391" l="0" r="0" t="1834"/>
          <a:stretch/>
        </p:blipFill>
        <p:spPr>
          <a:xfrm>
            <a:off x="2286000" y="715700"/>
            <a:ext cx="7798600" cy="6060276"/>
          </a:xfrm>
          <a:prstGeom prst="rect">
            <a:avLst/>
          </a:prstGeom>
          <a:noFill/>
          <a:ln>
            <a:noFill/>
          </a:ln>
        </p:spPr>
      </p:pic>
      <p:sp>
        <p:nvSpPr>
          <p:cNvPr id="200" name="Google Shape;200;p26"/>
          <p:cNvSpPr txBox="1"/>
          <p:nvPr/>
        </p:nvSpPr>
        <p:spPr>
          <a:xfrm>
            <a:off x="1345400" y="72750"/>
            <a:ext cx="9715500" cy="583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IN" sz="3200">
                <a:solidFill>
                  <a:srgbClr val="FF0000"/>
                </a:solidFill>
                <a:latin typeface="Times New Roman"/>
                <a:ea typeface="Times New Roman"/>
                <a:cs typeface="Times New Roman"/>
                <a:sym typeface="Times New Roman"/>
              </a:rPr>
              <a:t>WORK METHODOLOGY</a:t>
            </a:r>
            <a:endParaRPr sz="3200">
              <a:solidFill>
                <a:srgbClr val="FF0000"/>
              </a:solidFill>
              <a:latin typeface="Times New Roman"/>
              <a:ea typeface="Times New Roman"/>
              <a:cs typeface="Times New Roman"/>
              <a:sym typeface="Times New Roman"/>
            </a:endParaRPr>
          </a:p>
          <a:p>
            <a:pPr indent="0" lvl="0" marL="0" rtl="0" algn="l">
              <a:spcBef>
                <a:spcPts val="0"/>
              </a:spcBef>
              <a:spcAft>
                <a:spcPts val="0"/>
              </a:spcAft>
              <a:buNone/>
            </a:pPr>
            <a:r>
              <a:t/>
            </a:r>
            <a:endParaRPr sz="28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7"/>
          <p:cNvSpPr txBox="1"/>
          <p:nvPr>
            <p:ph type="title"/>
          </p:nvPr>
        </p:nvSpPr>
        <p:spPr>
          <a:xfrm>
            <a:off x="459050" y="0"/>
            <a:ext cx="11373600" cy="5847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IN" sz="3400">
                <a:solidFill>
                  <a:srgbClr val="FF0000"/>
                </a:solidFill>
                <a:latin typeface="Times New Roman"/>
                <a:ea typeface="Times New Roman"/>
                <a:cs typeface="Times New Roman"/>
                <a:sym typeface="Times New Roman"/>
              </a:rPr>
              <a:t>Process Parameters – MIG Based WAAM</a:t>
            </a:r>
            <a:endParaRPr sz="3400">
              <a:solidFill>
                <a:srgbClr val="FF0000"/>
              </a:solidFill>
              <a:latin typeface="Times New Roman"/>
              <a:ea typeface="Times New Roman"/>
              <a:cs typeface="Times New Roman"/>
              <a:sym typeface="Times New Roman"/>
            </a:endParaRPr>
          </a:p>
        </p:txBody>
      </p:sp>
      <p:sp>
        <p:nvSpPr>
          <p:cNvPr id="207" name="Google Shape;207;p27"/>
          <p:cNvSpPr txBox="1"/>
          <p:nvPr>
            <p:ph idx="1" type="body"/>
          </p:nvPr>
        </p:nvSpPr>
        <p:spPr>
          <a:xfrm>
            <a:off x="402050" y="456375"/>
            <a:ext cx="11487600" cy="65586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b="1" lang="en-IN" sz="2100">
                <a:latin typeface="Arial"/>
                <a:ea typeface="Arial"/>
                <a:cs typeface="Arial"/>
                <a:sym typeface="Arial"/>
              </a:rPr>
              <a:t>Base Material :</a:t>
            </a:r>
            <a:endParaRPr b="1" sz="2100">
              <a:latin typeface="Arial"/>
              <a:ea typeface="Arial"/>
              <a:cs typeface="Arial"/>
              <a:sym typeface="Arial"/>
            </a:endParaRPr>
          </a:p>
          <a:p>
            <a:pPr indent="-361950" lvl="0" marL="457200" rtl="0" algn="l">
              <a:spcBef>
                <a:spcPts val="1000"/>
              </a:spcBef>
              <a:spcAft>
                <a:spcPts val="0"/>
              </a:spcAft>
              <a:buSzPts val="2100"/>
              <a:buChar char="•"/>
            </a:pPr>
            <a:r>
              <a:rPr b="1" lang="en-IN" sz="2100">
                <a:latin typeface="Arial"/>
                <a:ea typeface="Arial"/>
                <a:cs typeface="Arial"/>
                <a:sym typeface="Arial"/>
              </a:rPr>
              <a:t>Material</a:t>
            </a:r>
            <a:r>
              <a:rPr lang="en-IN" sz="2100">
                <a:latin typeface="Arial"/>
                <a:ea typeface="Arial"/>
                <a:cs typeface="Arial"/>
                <a:sym typeface="Arial"/>
              </a:rPr>
              <a:t>: Mild Steel (MS) Plate</a:t>
            </a:r>
            <a:endParaRPr sz="2100">
              <a:latin typeface="Arial"/>
              <a:ea typeface="Arial"/>
              <a:cs typeface="Arial"/>
              <a:sym typeface="Arial"/>
            </a:endParaRPr>
          </a:p>
          <a:p>
            <a:pPr indent="-361950" lvl="0" marL="457200" rtl="0" algn="l">
              <a:spcBef>
                <a:spcPts val="0"/>
              </a:spcBef>
              <a:spcAft>
                <a:spcPts val="0"/>
              </a:spcAft>
              <a:buSzPts val="2100"/>
              <a:buChar char="•"/>
            </a:pPr>
            <a:r>
              <a:rPr b="1" lang="en-IN" sz="2100">
                <a:latin typeface="Arial"/>
                <a:ea typeface="Arial"/>
                <a:cs typeface="Arial"/>
                <a:sym typeface="Arial"/>
              </a:rPr>
              <a:t>Thickness</a:t>
            </a:r>
            <a:r>
              <a:rPr lang="en-IN" sz="2100">
                <a:latin typeface="Arial"/>
                <a:ea typeface="Arial"/>
                <a:cs typeface="Arial"/>
                <a:sym typeface="Arial"/>
              </a:rPr>
              <a:t>: 18mm</a:t>
            </a:r>
            <a:endParaRPr sz="2100">
              <a:latin typeface="Arial"/>
              <a:ea typeface="Arial"/>
              <a:cs typeface="Arial"/>
              <a:sym typeface="Arial"/>
            </a:endParaRPr>
          </a:p>
          <a:p>
            <a:pPr indent="0" lvl="0" marL="0" rtl="0" algn="l">
              <a:spcBef>
                <a:spcPts val="1000"/>
              </a:spcBef>
              <a:spcAft>
                <a:spcPts val="0"/>
              </a:spcAft>
              <a:buNone/>
            </a:pPr>
            <a:r>
              <a:rPr b="1" lang="en-IN" sz="2100">
                <a:latin typeface="Arial"/>
                <a:ea typeface="Arial"/>
                <a:cs typeface="Arial"/>
                <a:sym typeface="Arial"/>
              </a:rPr>
              <a:t>Filler Material:</a:t>
            </a:r>
            <a:endParaRPr b="1" sz="2100">
              <a:latin typeface="Arial"/>
              <a:ea typeface="Arial"/>
              <a:cs typeface="Arial"/>
              <a:sym typeface="Arial"/>
            </a:endParaRPr>
          </a:p>
          <a:p>
            <a:pPr indent="-361950" lvl="0" marL="457200" rtl="0" algn="l">
              <a:spcBef>
                <a:spcPts val="1000"/>
              </a:spcBef>
              <a:spcAft>
                <a:spcPts val="0"/>
              </a:spcAft>
              <a:buSzPts val="2100"/>
              <a:buChar char="•"/>
            </a:pPr>
            <a:r>
              <a:rPr b="1" lang="en-IN" sz="2100">
                <a:latin typeface="Arial"/>
                <a:ea typeface="Arial"/>
                <a:cs typeface="Arial"/>
                <a:sym typeface="Arial"/>
              </a:rPr>
              <a:t>Material</a:t>
            </a:r>
            <a:r>
              <a:rPr lang="en-IN" sz="2100">
                <a:latin typeface="Arial"/>
                <a:ea typeface="Arial"/>
                <a:cs typeface="Arial"/>
                <a:sym typeface="Arial"/>
              </a:rPr>
              <a:t>: Stainless Steel 316L (SS316L)</a:t>
            </a:r>
            <a:endParaRPr sz="2100">
              <a:latin typeface="Arial"/>
              <a:ea typeface="Arial"/>
              <a:cs typeface="Arial"/>
              <a:sym typeface="Arial"/>
            </a:endParaRPr>
          </a:p>
          <a:p>
            <a:pPr indent="-361950" lvl="0" marL="457200" rtl="0" algn="l">
              <a:spcBef>
                <a:spcPts val="0"/>
              </a:spcBef>
              <a:spcAft>
                <a:spcPts val="0"/>
              </a:spcAft>
              <a:buSzPts val="2100"/>
              <a:buChar char="•"/>
            </a:pPr>
            <a:r>
              <a:rPr b="1" lang="en-IN" sz="2100">
                <a:latin typeface="Arial"/>
                <a:ea typeface="Arial"/>
                <a:cs typeface="Arial"/>
                <a:sym typeface="Arial"/>
              </a:rPr>
              <a:t>Wire Diameter</a:t>
            </a:r>
            <a:r>
              <a:rPr lang="en-IN" sz="2100">
                <a:latin typeface="Arial"/>
                <a:ea typeface="Arial"/>
                <a:cs typeface="Arial"/>
                <a:sym typeface="Arial"/>
              </a:rPr>
              <a:t>: 1.2 mm</a:t>
            </a:r>
            <a:endParaRPr sz="2100">
              <a:latin typeface="Arial"/>
              <a:ea typeface="Arial"/>
              <a:cs typeface="Arial"/>
              <a:sym typeface="Arial"/>
            </a:endParaRPr>
          </a:p>
          <a:p>
            <a:pPr indent="0" lvl="0" marL="0" rtl="0" algn="l">
              <a:spcBef>
                <a:spcPts val="1000"/>
              </a:spcBef>
              <a:spcAft>
                <a:spcPts val="0"/>
              </a:spcAft>
              <a:buNone/>
            </a:pPr>
            <a:r>
              <a:rPr b="1" lang="en-IN" sz="2000">
                <a:latin typeface="Arial"/>
                <a:ea typeface="Arial"/>
                <a:cs typeface="Arial"/>
                <a:sym typeface="Arial"/>
              </a:rPr>
              <a:t>Deposition Laye</a:t>
            </a:r>
            <a:r>
              <a:rPr lang="en-IN" sz="2000">
                <a:latin typeface="Arial"/>
                <a:ea typeface="Arial"/>
                <a:cs typeface="Arial"/>
                <a:sym typeface="Arial"/>
              </a:rPr>
              <a:t>r: 40-41 layers</a:t>
            </a:r>
            <a:endParaRPr b="1" sz="2000">
              <a:latin typeface="Arial"/>
              <a:ea typeface="Arial"/>
              <a:cs typeface="Arial"/>
              <a:sym typeface="Arial"/>
            </a:endParaRPr>
          </a:p>
          <a:p>
            <a:pPr indent="0" lvl="0" marL="0" rtl="0" algn="l">
              <a:spcBef>
                <a:spcPts val="1000"/>
              </a:spcBef>
              <a:spcAft>
                <a:spcPts val="0"/>
              </a:spcAft>
              <a:buNone/>
            </a:pPr>
            <a:r>
              <a:rPr b="1" lang="en-IN"/>
              <a:t>Welding Parameters:</a:t>
            </a:r>
            <a:endParaRPr b="1"/>
          </a:p>
          <a:p>
            <a:pPr indent="0" lvl="0" marL="0" rtl="0" algn="l">
              <a:spcBef>
                <a:spcPts val="1000"/>
              </a:spcBef>
              <a:spcAft>
                <a:spcPts val="0"/>
              </a:spcAft>
              <a:buNone/>
            </a:pPr>
            <a:r>
              <a:t/>
            </a:r>
            <a:endParaRPr sz="2300"/>
          </a:p>
          <a:p>
            <a:pPr indent="0" lvl="0" marL="0" rtl="0" algn="l">
              <a:spcBef>
                <a:spcPts val="1000"/>
              </a:spcBef>
              <a:spcAft>
                <a:spcPts val="0"/>
              </a:spcAft>
              <a:buNone/>
            </a:pPr>
            <a:r>
              <a:t/>
            </a:r>
            <a:endParaRPr sz="2300"/>
          </a:p>
          <a:p>
            <a:pPr indent="0" lvl="0" marL="0" rtl="0" algn="l">
              <a:spcBef>
                <a:spcPts val="1000"/>
              </a:spcBef>
              <a:spcAft>
                <a:spcPts val="0"/>
              </a:spcAft>
              <a:buNone/>
            </a:pPr>
            <a:r>
              <a:t/>
            </a:r>
            <a:endParaRPr sz="2300"/>
          </a:p>
        </p:txBody>
      </p:sp>
      <p:sp>
        <p:nvSpPr>
          <p:cNvPr id="208" name="Google Shape;208;p27"/>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graphicFrame>
        <p:nvGraphicFramePr>
          <p:cNvPr id="209" name="Google Shape;209;p27"/>
          <p:cNvGraphicFramePr/>
          <p:nvPr/>
        </p:nvGraphicFramePr>
        <p:xfrm>
          <a:off x="1850700" y="3581750"/>
          <a:ext cx="3000000" cy="3000000"/>
        </p:xfrm>
        <a:graphic>
          <a:graphicData uri="http://schemas.openxmlformats.org/drawingml/2006/table">
            <a:tbl>
              <a:tblPr>
                <a:noFill/>
                <a:tableStyleId>{59E93DEC-B814-473E-B6FB-395829DA1DCD}</a:tableStyleId>
              </a:tblPr>
              <a:tblGrid>
                <a:gridCol w="4031400"/>
                <a:gridCol w="4031400"/>
              </a:tblGrid>
              <a:tr h="504850">
                <a:tc>
                  <a:txBody>
                    <a:bodyPr/>
                    <a:lstStyle/>
                    <a:p>
                      <a:pPr indent="0" lvl="0" marL="0" rtl="0" algn="ctr">
                        <a:spcBef>
                          <a:spcPts val="0"/>
                        </a:spcBef>
                        <a:spcAft>
                          <a:spcPts val="0"/>
                        </a:spcAft>
                        <a:buNone/>
                      </a:pPr>
                      <a:r>
                        <a:rPr b="1" lang="en-IN" sz="2300"/>
                        <a:t>Parameter</a:t>
                      </a:r>
                      <a:endParaRPr b="1" sz="2300"/>
                    </a:p>
                  </a:txBody>
                  <a:tcPr marT="91425" marB="91425" marR="91425" marL="91425"/>
                </a:tc>
                <a:tc>
                  <a:txBody>
                    <a:bodyPr/>
                    <a:lstStyle/>
                    <a:p>
                      <a:pPr indent="0" lvl="0" marL="0" rtl="0" algn="ctr">
                        <a:spcBef>
                          <a:spcPts val="0"/>
                        </a:spcBef>
                        <a:spcAft>
                          <a:spcPts val="0"/>
                        </a:spcAft>
                        <a:buNone/>
                      </a:pPr>
                      <a:r>
                        <a:rPr b="1" lang="en-IN" sz="2300"/>
                        <a:t>Value</a:t>
                      </a:r>
                      <a:endParaRPr b="1" sz="2300"/>
                    </a:p>
                  </a:txBody>
                  <a:tcPr marT="91425" marB="91425" marR="91425" marL="91425"/>
                </a:tc>
              </a:tr>
              <a:tr h="381000">
                <a:tc>
                  <a:txBody>
                    <a:bodyPr/>
                    <a:lstStyle/>
                    <a:p>
                      <a:pPr indent="0" lvl="0" marL="0" rtl="0" algn="l">
                        <a:spcBef>
                          <a:spcPts val="0"/>
                        </a:spcBef>
                        <a:spcAft>
                          <a:spcPts val="0"/>
                        </a:spcAft>
                        <a:buNone/>
                      </a:pPr>
                      <a:r>
                        <a:rPr lang="en-IN" sz="1800"/>
                        <a:t>Current</a:t>
                      </a:r>
                      <a:endParaRPr sz="1800"/>
                    </a:p>
                  </a:txBody>
                  <a:tcPr marT="91425" marB="91425" marR="91425" marL="91425"/>
                </a:tc>
                <a:tc>
                  <a:txBody>
                    <a:bodyPr/>
                    <a:lstStyle/>
                    <a:p>
                      <a:pPr indent="0" lvl="0" marL="0" rtl="0" algn="l">
                        <a:spcBef>
                          <a:spcPts val="0"/>
                        </a:spcBef>
                        <a:spcAft>
                          <a:spcPts val="0"/>
                        </a:spcAft>
                        <a:buNone/>
                      </a:pPr>
                      <a:r>
                        <a:rPr lang="en-IN" sz="1800"/>
                        <a:t>170 A</a:t>
                      </a:r>
                      <a:endParaRPr sz="1800"/>
                    </a:p>
                  </a:txBody>
                  <a:tcPr marT="91425" marB="91425" marR="91425" marL="91425"/>
                </a:tc>
              </a:tr>
              <a:tr h="381000">
                <a:tc>
                  <a:txBody>
                    <a:bodyPr/>
                    <a:lstStyle/>
                    <a:p>
                      <a:pPr indent="0" lvl="0" marL="0" rtl="0" algn="l">
                        <a:spcBef>
                          <a:spcPts val="0"/>
                        </a:spcBef>
                        <a:spcAft>
                          <a:spcPts val="0"/>
                        </a:spcAft>
                        <a:buNone/>
                      </a:pPr>
                      <a:r>
                        <a:rPr lang="en-IN" sz="1800"/>
                        <a:t>Voltage</a:t>
                      </a:r>
                      <a:endParaRPr sz="1800"/>
                    </a:p>
                  </a:txBody>
                  <a:tcPr marT="91425" marB="91425" marR="91425" marL="91425"/>
                </a:tc>
                <a:tc>
                  <a:txBody>
                    <a:bodyPr/>
                    <a:lstStyle/>
                    <a:p>
                      <a:pPr indent="0" lvl="0" marL="0" rtl="0" algn="l">
                        <a:spcBef>
                          <a:spcPts val="0"/>
                        </a:spcBef>
                        <a:spcAft>
                          <a:spcPts val="0"/>
                        </a:spcAft>
                        <a:buNone/>
                      </a:pPr>
                      <a:r>
                        <a:rPr lang="en-IN" sz="1800"/>
                        <a:t>27 V</a:t>
                      </a:r>
                      <a:endParaRPr sz="1800"/>
                    </a:p>
                  </a:txBody>
                  <a:tcPr marT="91425" marB="91425" marR="91425" marL="91425"/>
                </a:tc>
              </a:tr>
              <a:tr h="381000">
                <a:tc>
                  <a:txBody>
                    <a:bodyPr/>
                    <a:lstStyle/>
                    <a:p>
                      <a:pPr indent="0" lvl="0" marL="0" rtl="0" algn="l">
                        <a:spcBef>
                          <a:spcPts val="0"/>
                        </a:spcBef>
                        <a:spcAft>
                          <a:spcPts val="0"/>
                        </a:spcAft>
                        <a:buNone/>
                      </a:pPr>
                      <a:r>
                        <a:rPr lang="en-IN" sz="1800"/>
                        <a:t>Wire Feed Rate</a:t>
                      </a:r>
                      <a:endParaRPr sz="1800"/>
                    </a:p>
                  </a:txBody>
                  <a:tcPr marT="91425" marB="91425" marR="91425" marL="91425"/>
                </a:tc>
                <a:tc>
                  <a:txBody>
                    <a:bodyPr/>
                    <a:lstStyle/>
                    <a:p>
                      <a:pPr indent="0" lvl="0" marL="0" rtl="0" algn="l">
                        <a:spcBef>
                          <a:spcPts val="0"/>
                        </a:spcBef>
                        <a:spcAft>
                          <a:spcPts val="0"/>
                        </a:spcAft>
                        <a:buNone/>
                      </a:pPr>
                      <a:r>
                        <a:rPr lang="en-IN" sz="1800"/>
                        <a:t>11.5 m/min</a:t>
                      </a:r>
                      <a:endParaRPr sz="1800"/>
                    </a:p>
                  </a:txBody>
                  <a:tcPr marT="91425" marB="91425" marR="91425" marL="91425"/>
                </a:tc>
              </a:tr>
              <a:tr h="381000">
                <a:tc>
                  <a:txBody>
                    <a:bodyPr/>
                    <a:lstStyle/>
                    <a:p>
                      <a:pPr indent="0" lvl="0" marL="0" rtl="0" algn="l">
                        <a:spcBef>
                          <a:spcPts val="0"/>
                        </a:spcBef>
                        <a:spcAft>
                          <a:spcPts val="0"/>
                        </a:spcAft>
                        <a:buNone/>
                      </a:pPr>
                      <a:r>
                        <a:rPr lang="en-IN" sz="1800"/>
                        <a:t>Travel Speed</a:t>
                      </a:r>
                      <a:endParaRPr sz="1800"/>
                    </a:p>
                  </a:txBody>
                  <a:tcPr marT="91425" marB="91425" marR="91425" marL="91425"/>
                </a:tc>
                <a:tc>
                  <a:txBody>
                    <a:bodyPr/>
                    <a:lstStyle/>
                    <a:p>
                      <a:pPr indent="0" lvl="0" marL="0" rtl="0" algn="l">
                        <a:spcBef>
                          <a:spcPts val="0"/>
                        </a:spcBef>
                        <a:spcAft>
                          <a:spcPts val="0"/>
                        </a:spcAft>
                        <a:buNone/>
                      </a:pPr>
                      <a:r>
                        <a:rPr lang="en-IN" sz="1800"/>
                        <a:t>300 mm/min</a:t>
                      </a:r>
                      <a:endParaRPr sz="1800"/>
                    </a:p>
                  </a:txBody>
                  <a:tcPr marT="91425" marB="91425" marR="91425" marL="91425"/>
                </a:tc>
              </a:tr>
              <a:tr h="381000">
                <a:tc>
                  <a:txBody>
                    <a:bodyPr/>
                    <a:lstStyle/>
                    <a:p>
                      <a:pPr indent="0" lvl="0" marL="0" rtl="0" algn="l">
                        <a:spcBef>
                          <a:spcPts val="0"/>
                        </a:spcBef>
                        <a:spcAft>
                          <a:spcPts val="0"/>
                        </a:spcAft>
                        <a:buNone/>
                      </a:pPr>
                      <a:r>
                        <a:rPr lang="en-IN" sz="1800"/>
                        <a:t>Shielding Gas</a:t>
                      </a:r>
                      <a:endParaRPr sz="1800"/>
                    </a:p>
                  </a:txBody>
                  <a:tcPr marT="91425" marB="91425" marR="91425" marL="91425"/>
                </a:tc>
                <a:tc>
                  <a:txBody>
                    <a:bodyPr/>
                    <a:lstStyle/>
                    <a:p>
                      <a:pPr indent="0" lvl="0" marL="0" rtl="0" algn="l">
                        <a:spcBef>
                          <a:spcPts val="0"/>
                        </a:spcBef>
                        <a:spcAft>
                          <a:spcPts val="0"/>
                        </a:spcAft>
                        <a:buNone/>
                      </a:pPr>
                      <a:r>
                        <a:rPr lang="en-IN" sz="1800"/>
                        <a:t>100% Argon</a:t>
                      </a:r>
                      <a:endParaRPr sz="1800"/>
                    </a:p>
                  </a:txBody>
                  <a:tcPr marT="91425" marB="91425" marR="91425" marL="91425"/>
                </a:tc>
              </a:tr>
              <a:tr h="381000">
                <a:tc>
                  <a:txBody>
                    <a:bodyPr/>
                    <a:lstStyle/>
                    <a:p>
                      <a:pPr indent="0" lvl="0" marL="0" rtl="0" algn="l">
                        <a:spcBef>
                          <a:spcPts val="0"/>
                        </a:spcBef>
                        <a:spcAft>
                          <a:spcPts val="0"/>
                        </a:spcAft>
                        <a:buNone/>
                      </a:pPr>
                      <a:r>
                        <a:rPr lang="en-IN" sz="1800"/>
                        <a:t>Gas Flow Rate</a:t>
                      </a:r>
                      <a:endParaRPr sz="1800"/>
                    </a:p>
                  </a:txBody>
                  <a:tcPr marT="91425" marB="91425" marR="91425" marL="91425"/>
                </a:tc>
                <a:tc>
                  <a:txBody>
                    <a:bodyPr/>
                    <a:lstStyle/>
                    <a:p>
                      <a:pPr indent="0" lvl="0" marL="0" rtl="0" algn="l">
                        <a:spcBef>
                          <a:spcPts val="0"/>
                        </a:spcBef>
                        <a:spcAft>
                          <a:spcPts val="0"/>
                        </a:spcAft>
                        <a:buNone/>
                      </a:pPr>
                      <a:r>
                        <a:rPr lang="en-IN" sz="1800"/>
                        <a:t>10 L/min</a:t>
                      </a:r>
                      <a:endParaRPr sz="1800"/>
                    </a:p>
                  </a:txBody>
                  <a:tcPr marT="91425" marB="91425" marR="91425" marL="91425"/>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8"/>
          <p:cNvSpPr txBox="1"/>
          <p:nvPr/>
        </p:nvSpPr>
        <p:spPr>
          <a:xfrm>
            <a:off x="580400" y="136225"/>
            <a:ext cx="11290500" cy="9081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FF0000"/>
              </a:buClr>
              <a:buSzPts val="4400"/>
              <a:buFont typeface="Times New Roman"/>
              <a:buNone/>
            </a:pPr>
            <a:r>
              <a:rPr lang="en-IN" sz="3200">
                <a:solidFill>
                  <a:srgbClr val="FF0000"/>
                </a:solidFill>
                <a:highlight>
                  <a:schemeClr val="lt1"/>
                </a:highlight>
                <a:latin typeface="Times New Roman"/>
                <a:ea typeface="Times New Roman"/>
                <a:cs typeface="Times New Roman"/>
                <a:sym typeface="Times New Roman"/>
              </a:rPr>
              <a:t>              </a:t>
            </a:r>
            <a:r>
              <a:rPr lang="en-IN" sz="3200">
                <a:solidFill>
                  <a:srgbClr val="FF0000"/>
                </a:solidFill>
                <a:highlight>
                  <a:schemeClr val="lt1"/>
                </a:highlight>
                <a:latin typeface="Times New Roman"/>
                <a:ea typeface="Times New Roman"/>
                <a:cs typeface="Times New Roman"/>
                <a:sym typeface="Times New Roman"/>
              </a:rPr>
              <a:t>Schematic Representation of WAAM</a:t>
            </a:r>
            <a:endParaRPr sz="3200">
              <a:solidFill>
                <a:srgbClr val="FF0000"/>
              </a:solidFill>
              <a:highlight>
                <a:schemeClr val="lt1"/>
              </a:highlight>
              <a:latin typeface="Times New Roman"/>
              <a:ea typeface="Times New Roman"/>
              <a:cs typeface="Times New Roman"/>
              <a:sym typeface="Times New Roman"/>
            </a:endParaRPr>
          </a:p>
        </p:txBody>
      </p:sp>
      <p:pic>
        <p:nvPicPr>
          <p:cNvPr id="215" name="Google Shape;215;p28" title="Screenshot 2026-02-21 112746.png"/>
          <p:cNvPicPr preferRelativeResize="0"/>
          <p:nvPr/>
        </p:nvPicPr>
        <p:blipFill>
          <a:blip r:embed="rId3">
            <a:alphaModFix/>
          </a:blip>
          <a:stretch>
            <a:fillRect/>
          </a:stretch>
        </p:blipFill>
        <p:spPr>
          <a:xfrm>
            <a:off x="934963" y="1044327"/>
            <a:ext cx="10322087" cy="5508873"/>
          </a:xfrm>
          <a:prstGeom prst="rect">
            <a:avLst/>
          </a:prstGeom>
          <a:noFill/>
          <a:ln>
            <a:noFill/>
          </a:ln>
        </p:spPr>
      </p:pic>
      <p:sp>
        <p:nvSpPr>
          <p:cNvPr id="216" name="Google Shape;216;p28"/>
          <p:cNvSpPr txBox="1"/>
          <p:nvPr/>
        </p:nvSpPr>
        <p:spPr>
          <a:xfrm>
            <a:off x="1907450" y="725375"/>
            <a:ext cx="70338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8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29"/>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Clr>
                <a:srgbClr val="FF0000"/>
              </a:buClr>
              <a:buSzPts val="4400"/>
              <a:buFont typeface="Times New Roman"/>
              <a:buNone/>
            </a:pPr>
            <a:r>
              <a:rPr lang="en-IN">
                <a:solidFill>
                  <a:srgbClr val="FF0000"/>
                </a:solidFill>
                <a:latin typeface="Times New Roman"/>
                <a:ea typeface="Times New Roman"/>
                <a:cs typeface="Times New Roman"/>
                <a:sym typeface="Times New Roman"/>
              </a:rPr>
              <a:t>Sample preparation</a:t>
            </a:r>
            <a:endParaRPr/>
          </a:p>
          <a:p>
            <a:pPr indent="0" lvl="0" marL="0" rtl="0" algn="l">
              <a:spcBef>
                <a:spcPts val="0"/>
              </a:spcBef>
              <a:spcAft>
                <a:spcPts val="0"/>
              </a:spcAft>
              <a:buNone/>
            </a:pPr>
            <a:r>
              <a:t/>
            </a:r>
            <a:endParaRPr/>
          </a:p>
        </p:txBody>
      </p:sp>
      <p:sp>
        <p:nvSpPr>
          <p:cNvPr id="223" name="Google Shape;223;p29"/>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pic>
        <p:nvPicPr>
          <p:cNvPr id="224" name="Google Shape;224;p29" title="1517.jpeg"/>
          <p:cNvPicPr preferRelativeResize="0"/>
          <p:nvPr/>
        </p:nvPicPr>
        <p:blipFill>
          <a:blip r:embed="rId3">
            <a:alphaModFix/>
          </a:blip>
          <a:stretch>
            <a:fillRect/>
          </a:stretch>
        </p:blipFill>
        <p:spPr>
          <a:xfrm>
            <a:off x="631025" y="1464600"/>
            <a:ext cx="4693201" cy="4463524"/>
          </a:xfrm>
          <a:prstGeom prst="rect">
            <a:avLst/>
          </a:prstGeom>
          <a:noFill/>
          <a:ln>
            <a:noFill/>
          </a:ln>
        </p:spPr>
      </p:pic>
      <p:pic>
        <p:nvPicPr>
          <p:cNvPr id="225" name="Google Shape;225;p29" title="417.jpeg"/>
          <p:cNvPicPr preferRelativeResize="0"/>
          <p:nvPr/>
        </p:nvPicPr>
        <p:blipFill>
          <a:blip r:embed="rId4">
            <a:alphaModFix/>
          </a:blip>
          <a:stretch>
            <a:fillRect/>
          </a:stretch>
        </p:blipFill>
        <p:spPr>
          <a:xfrm>
            <a:off x="5812700" y="1464600"/>
            <a:ext cx="5653024" cy="44635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0"/>
          <p:cNvSpPr txBox="1"/>
          <p:nvPr>
            <p:ph type="title"/>
          </p:nvPr>
        </p:nvSpPr>
        <p:spPr>
          <a:xfrm>
            <a:off x="838200" y="0"/>
            <a:ext cx="10515600" cy="13257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Clr>
                <a:srgbClr val="FF0000"/>
              </a:buClr>
              <a:buSzPts val="4400"/>
              <a:buFont typeface="Times New Roman"/>
              <a:buNone/>
            </a:pPr>
            <a:r>
              <a:rPr lang="en-IN">
                <a:solidFill>
                  <a:srgbClr val="FF0000"/>
                </a:solidFill>
                <a:latin typeface="Times New Roman"/>
                <a:ea typeface="Times New Roman"/>
                <a:cs typeface="Times New Roman"/>
                <a:sym typeface="Times New Roman"/>
              </a:rPr>
              <a:t>Sample preparation</a:t>
            </a:r>
            <a:endParaRPr/>
          </a:p>
        </p:txBody>
      </p:sp>
      <p:sp>
        <p:nvSpPr>
          <p:cNvPr id="232" name="Google Shape;232;p30"/>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pic>
        <p:nvPicPr>
          <p:cNvPr id="233" name="Google Shape;233;p30" title="1017.jpeg"/>
          <p:cNvPicPr preferRelativeResize="0"/>
          <p:nvPr/>
        </p:nvPicPr>
        <p:blipFill rotWithShape="1">
          <a:blip r:embed="rId3">
            <a:alphaModFix/>
          </a:blip>
          <a:srcRect b="0" l="31077" r="0" t="38556"/>
          <a:stretch/>
        </p:blipFill>
        <p:spPr>
          <a:xfrm>
            <a:off x="613163" y="1493650"/>
            <a:ext cx="10965676" cy="42822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1"/>
          <p:cNvSpPr txBox="1"/>
          <p:nvPr>
            <p:ph type="title"/>
          </p:nvPr>
        </p:nvSpPr>
        <p:spPr>
          <a:xfrm>
            <a:off x="852055" y="136842"/>
            <a:ext cx="10515600" cy="1014471"/>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0000"/>
              </a:buClr>
              <a:buSzPts val="4400"/>
              <a:buFont typeface="Times New Roman"/>
              <a:buNone/>
            </a:pPr>
            <a:r>
              <a:rPr lang="en-IN">
                <a:solidFill>
                  <a:srgbClr val="FF0000"/>
                </a:solidFill>
                <a:latin typeface="Times New Roman"/>
                <a:ea typeface="Times New Roman"/>
                <a:cs typeface="Times New Roman"/>
                <a:sym typeface="Times New Roman"/>
              </a:rPr>
              <a:t>Works to be carried out</a:t>
            </a:r>
            <a:endParaRPr/>
          </a:p>
        </p:txBody>
      </p:sp>
      <p:sp>
        <p:nvSpPr>
          <p:cNvPr id="239" name="Google Shape;239;p31"/>
          <p:cNvSpPr txBox="1"/>
          <p:nvPr>
            <p:ph idx="1" type="body"/>
          </p:nvPr>
        </p:nvSpPr>
        <p:spPr>
          <a:xfrm>
            <a:off x="315885" y="1151313"/>
            <a:ext cx="11587940" cy="5341562"/>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lnSpc>
                <a:spcPct val="150000"/>
              </a:lnSpc>
              <a:spcBef>
                <a:spcPts val="0"/>
              </a:spcBef>
              <a:spcAft>
                <a:spcPts val="0"/>
              </a:spcAft>
              <a:buNone/>
            </a:pPr>
            <a:r>
              <a:rPr lang="en-IN" sz="3600">
                <a:latin typeface="Times New Roman"/>
                <a:ea typeface="Times New Roman"/>
                <a:cs typeface="Times New Roman"/>
                <a:sym typeface="Times New Roman"/>
              </a:rPr>
              <a:t>Mechanical </a:t>
            </a:r>
            <a:r>
              <a:rPr lang="en-IN" sz="3600">
                <a:latin typeface="Times New Roman"/>
                <a:ea typeface="Times New Roman"/>
                <a:cs typeface="Times New Roman"/>
                <a:sym typeface="Times New Roman"/>
              </a:rPr>
              <a:t>Testing</a:t>
            </a:r>
            <a:endParaRPr/>
          </a:p>
          <a:p>
            <a:pPr indent="-302260" lvl="1" marL="685800" rtl="0" algn="just">
              <a:lnSpc>
                <a:spcPct val="150000"/>
              </a:lnSpc>
              <a:spcBef>
                <a:spcPts val="500"/>
              </a:spcBef>
              <a:spcAft>
                <a:spcPts val="0"/>
              </a:spcAft>
              <a:buSzPct val="100000"/>
              <a:buChar char="•"/>
            </a:pPr>
            <a:r>
              <a:rPr lang="en-IN" sz="3200">
                <a:latin typeface="Times New Roman"/>
                <a:ea typeface="Times New Roman"/>
                <a:cs typeface="Times New Roman"/>
                <a:sym typeface="Times New Roman"/>
              </a:rPr>
              <a:t>Tensile strength test</a:t>
            </a:r>
            <a:endParaRPr sz="3200">
              <a:latin typeface="Times New Roman"/>
              <a:ea typeface="Times New Roman"/>
              <a:cs typeface="Times New Roman"/>
              <a:sym typeface="Times New Roman"/>
            </a:endParaRPr>
          </a:p>
          <a:p>
            <a:pPr indent="-302260" lvl="1" marL="685800" rtl="0" algn="just">
              <a:lnSpc>
                <a:spcPct val="150000"/>
              </a:lnSpc>
              <a:spcBef>
                <a:spcPts val="500"/>
              </a:spcBef>
              <a:spcAft>
                <a:spcPts val="0"/>
              </a:spcAft>
              <a:buSzPct val="100000"/>
              <a:buChar char="•"/>
            </a:pPr>
            <a:r>
              <a:rPr lang="en-IN" sz="3200">
                <a:latin typeface="Times New Roman"/>
                <a:ea typeface="Times New Roman"/>
                <a:cs typeface="Times New Roman"/>
                <a:sym typeface="Times New Roman"/>
              </a:rPr>
              <a:t>Impact toughness test</a:t>
            </a:r>
            <a:endParaRPr sz="3200">
              <a:latin typeface="Times New Roman"/>
              <a:ea typeface="Times New Roman"/>
              <a:cs typeface="Times New Roman"/>
              <a:sym typeface="Times New Roman"/>
            </a:endParaRPr>
          </a:p>
          <a:p>
            <a:pPr indent="-302260" lvl="1" marL="685800" rtl="0" algn="just">
              <a:lnSpc>
                <a:spcPct val="150000"/>
              </a:lnSpc>
              <a:spcBef>
                <a:spcPts val="500"/>
              </a:spcBef>
              <a:spcAft>
                <a:spcPts val="0"/>
              </a:spcAft>
              <a:buSzPct val="100000"/>
              <a:buChar char="•"/>
            </a:pPr>
            <a:r>
              <a:rPr lang="en-IN" sz="3200">
                <a:latin typeface="Times New Roman"/>
                <a:ea typeface="Times New Roman"/>
                <a:cs typeface="Times New Roman"/>
                <a:sym typeface="Times New Roman"/>
              </a:rPr>
              <a:t>Hardness test </a:t>
            </a:r>
            <a:endParaRPr sz="3200">
              <a:latin typeface="Times New Roman"/>
              <a:ea typeface="Times New Roman"/>
              <a:cs typeface="Times New Roman"/>
              <a:sym typeface="Times New Roman"/>
            </a:endParaRPr>
          </a:p>
          <a:p>
            <a:pPr indent="0" lvl="0" marL="0" rtl="0" algn="just">
              <a:lnSpc>
                <a:spcPct val="150000"/>
              </a:lnSpc>
              <a:spcBef>
                <a:spcPts val="1000"/>
              </a:spcBef>
              <a:spcAft>
                <a:spcPts val="0"/>
              </a:spcAft>
              <a:buNone/>
            </a:pPr>
            <a:r>
              <a:rPr lang="en-IN" sz="3550">
                <a:latin typeface="Times New Roman"/>
                <a:ea typeface="Times New Roman"/>
                <a:cs typeface="Times New Roman"/>
                <a:sym typeface="Times New Roman"/>
              </a:rPr>
              <a:t>Metallurgical Characterization</a:t>
            </a:r>
            <a:endParaRPr sz="3550">
              <a:latin typeface="Times New Roman"/>
              <a:ea typeface="Times New Roman"/>
              <a:cs typeface="Times New Roman"/>
              <a:sym typeface="Times New Roman"/>
            </a:endParaRPr>
          </a:p>
          <a:p>
            <a:pPr indent="-302260" lvl="1" marL="685800" rtl="0" algn="just">
              <a:lnSpc>
                <a:spcPct val="150000"/>
              </a:lnSpc>
              <a:spcBef>
                <a:spcPts val="500"/>
              </a:spcBef>
              <a:spcAft>
                <a:spcPts val="0"/>
              </a:spcAft>
              <a:buSzPct val="100000"/>
              <a:buFont typeface="Times New Roman"/>
              <a:buChar char="•"/>
            </a:pPr>
            <a:r>
              <a:rPr lang="en-IN" sz="3200">
                <a:latin typeface="Times New Roman"/>
                <a:ea typeface="Times New Roman"/>
                <a:cs typeface="Times New Roman"/>
                <a:sym typeface="Times New Roman"/>
              </a:rPr>
              <a:t>Microstructure analysis</a:t>
            </a:r>
            <a:endParaRPr sz="3200">
              <a:latin typeface="Times New Roman"/>
              <a:ea typeface="Times New Roman"/>
              <a:cs typeface="Times New Roman"/>
              <a:sym typeface="Times New Roman"/>
            </a:endParaRPr>
          </a:p>
          <a:p>
            <a:pPr indent="-302260" lvl="1" marL="685800" rtl="0" algn="just">
              <a:lnSpc>
                <a:spcPct val="150000"/>
              </a:lnSpc>
              <a:spcBef>
                <a:spcPts val="500"/>
              </a:spcBef>
              <a:spcAft>
                <a:spcPts val="0"/>
              </a:spcAft>
              <a:buSzPct val="100000"/>
              <a:buFont typeface="Times New Roman"/>
              <a:buChar char="•"/>
            </a:pPr>
            <a:r>
              <a:rPr lang="en-IN" sz="3200">
                <a:latin typeface="Times New Roman"/>
                <a:ea typeface="Times New Roman"/>
                <a:cs typeface="Times New Roman"/>
                <a:sym typeface="Times New Roman"/>
              </a:rPr>
              <a:t>EBSD</a:t>
            </a:r>
            <a:endParaRPr sz="3200">
              <a:latin typeface="Times New Roman"/>
              <a:ea typeface="Times New Roman"/>
              <a:cs typeface="Times New Roman"/>
              <a:sym typeface="Times New Roman"/>
            </a:endParaRPr>
          </a:p>
          <a:p>
            <a:pPr indent="0" lvl="1" marL="457200" rtl="0" algn="l">
              <a:lnSpc>
                <a:spcPct val="150000"/>
              </a:lnSpc>
              <a:spcBef>
                <a:spcPts val="500"/>
              </a:spcBef>
              <a:spcAft>
                <a:spcPts val="0"/>
              </a:spcAft>
              <a:buClr>
                <a:schemeClr val="dk1"/>
              </a:buClr>
              <a:buSzPct val="100000"/>
              <a:buNone/>
            </a:pPr>
            <a:r>
              <a:t/>
            </a:r>
            <a:endParaRPr sz="3200">
              <a:latin typeface="Times New Roman"/>
              <a:ea typeface="Times New Roman"/>
              <a:cs typeface="Times New Roman"/>
              <a:sym typeface="Times New Roman"/>
            </a:endParaRPr>
          </a:p>
        </p:txBody>
      </p:sp>
      <p:sp>
        <p:nvSpPr>
          <p:cNvPr id="240" name="Google Shape;240;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2"/>
          <p:cNvSpPr txBox="1"/>
          <p:nvPr/>
        </p:nvSpPr>
        <p:spPr>
          <a:xfrm>
            <a:off x="0" y="136525"/>
            <a:ext cx="12192000" cy="49244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IN" sz="2600">
                <a:solidFill>
                  <a:srgbClr val="FF0000"/>
                </a:solidFill>
                <a:latin typeface="Times New Roman"/>
                <a:ea typeface="Times New Roman"/>
                <a:cs typeface="Times New Roman"/>
                <a:sym typeface="Times New Roman"/>
              </a:rPr>
              <a:t>REFERENCES </a:t>
            </a:r>
            <a:endParaRPr sz="2600">
              <a:solidFill>
                <a:srgbClr val="FF0000"/>
              </a:solidFill>
              <a:latin typeface="Times New Roman"/>
              <a:ea typeface="Times New Roman"/>
              <a:cs typeface="Times New Roman"/>
              <a:sym typeface="Times New Roman"/>
            </a:endParaRPr>
          </a:p>
        </p:txBody>
      </p:sp>
      <p:sp>
        <p:nvSpPr>
          <p:cNvPr id="246" name="Google Shape;246;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247" name="Google Shape;247;p32"/>
          <p:cNvSpPr/>
          <p:nvPr/>
        </p:nvSpPr>
        <p:spPr>
          <a:xfrm>
            <a:off x="189293" y="628968"/>
            <a:ext cx="11813400" cy="6157500"/>
          </a:xfrm>
          <a:prstGeom prst="rect">
            <a:avLst/>
          </a:prstGeom>
          <a:noFill/>
          <a:ln>
            <a:noFill/>
          </a:ln>
        </p:spPr>
        <p:txBody>
          <a:bodyPr anchorCtr="0" anchor="t" bIns="45700" lIns="91425" spcFirstLastPara="1" rIns="91425" wrap="square" tIns="45700">
            <a:noAutofit/>
          </a:bodyPr>
          <a:lstStyle/>
          <a:p>
            <a:pPr indent="-374650" lvl="0" marL="457200" marR="0" rtl="0" algn="just">
              <a:lnSpc>
                <a:spcPct val="107000"/>
              </a:lnSpc>
              <a:spcBef>
                <a:spcPts val="800"/>
              </a:spcBef>
              <a:spcAft>
                <a:spcPts val="0"/>
              </a:spcAft>
              <a:buClr>
                <a:schemeClr val="dk1"/>
              </a:buClr>
              <a:buSzPts val="2300"/>
              <a:buFont typeface="Times New Roman"/>
              <a:buChar char="●"/>
            </a:pPr>
            <a:r>
              <a:rPr lang="en-IN" sz="2300">
                <a:solidFill>
                  <a:schemeClr val="dk1"/>
                </a:solidFill>
                <a:latin typeface="Times New Roman"/>
                <a:ea typeface="Times New Roman"/>
                <a:cs typeface="Times New Roman"/>
                <a:sym typeface="Times New Roman"/>
              </a:rPr>
              <a:t> Ugur Gürol, Engin Kocaman, Savaş Dilibal, Mustafa Koçak. A comparative study on the microstructure, mechanical properties, wear and corrosion behaviors of SS 316 austenitic stainless steels manufactured by casting and WAAM technologies. </a:t>
            </a:r>
            <a:r>
              <a:rPr i="1" lang="en-IN" sz="2300">
                <a:solidFill>
                  <a:schemeClr val="dk1"/>
                </a:solidFill>
                <a:latin typeface="Times New Roman"/>
                <a:ea typeface="Times New Roman"/>
                <a:cs typeface="Times New Roman"/>
                <a:sym typeface="Times New Roman"/>
              </a:rPr>
              <a:t>Journal of Manufacturing Processes</a:t>
            </a:r>
            <a:r>
              <a:rPr lang="en-IN" sz="2300">
                <a:solidFill>
                  <a:schemeClr val="dk1"/>
                </a:solidFill>
                <a:latin typeface="Times New Roman"/>
                <a:ea typeface="Times New Roman"/>
                <a:cs typeface="Times New Roman"/>
                <a:sym typeface="Times New Roman"/>
              </a:rPr>
              <a:t>, 2023.</a:t>
            </a:r>
            <a:endParaRPr sz="2300">
              <a:solidFill>
                <a:schemeClr val="dk1"/>
              </a:solidFill>
              <a:latin typeface="Times New Roman"/>
              <a:ea typeface="Times New Roman"/>
              <a:cs typeface="Times New Roman"/>
              <a:sym typeface="Times New Roman"/>
            </a:endParaRPr>
          </a:p>
          <a:p>
            <a:pPr indent="-374650" lvl="0" marL="457200" marR="0" rtl="0" algn="just">
              <a:lnSpc>
                <a:spcPct val="107000"/>
              </a:lnSpc>
              <a:spcBef>
                <a:spcPts val="0"/>
              </a:spcBef>
              <a:spcAft>
                <a:spcPts val="0"/>
              </a:spcAft>
              <a:buClr>
                <a:schemeClr val="dk1"/>
              </a:buClr>
              <a:buSzPts val="2300"/>
              <a:buFont typeface="Times New Roman"/>
              <a:buChar char="●"/>
            </a:pPr>
            <a:r>
              <a:rPr lang="en-IN" sz="2300">
                <a:solidFill>
                  <a:schemeClr val="dk1"/>
                </a:solidFill>
                <a:latin typeface="Times New Roman"/>
                <a:ea typeface="Times New Roman"/>
                <a:cs typeface="Times New Roman"/>
                <a:sym typeface="Times New Roman"/>
              </a:rPr>
              <a:t>Edouard de Sonis, Sylvain Dépinoy, Pierre-François Giroux, Hicham Maskrot, Pierre Wident, Flore Villaret, Anne-Françoise Gourgues-Lorenzon. Impact toughness at room and cryogenic temperatures of 316L stainless steel processed by wire arc additive manufacturing. </a:t>
            </a:r>
            <a:r>
              <a:rPr i="1" lang="en-IN" sz="2300">
                <a:solidFill>
                  <a:schemeClr val="dk1"/>
                </a:solidFill>
                <a:latin typeface="Times New Roman"/>
                <a:ea typeface="Times New Roman"/>
                <a:cs typeface="Times New Roman"/>
                <a:sym typeface="Times New Roman"/>
              </a:rPr>
              <a:t>Materials Science and Engineering A</a:t>
            </a:r>
            <a:r>
              <a:rPr lang="en-IN" sz="2300">
                <a:solidFill>
                  <a:schemeClr val="dk1"/>
                </a:solidFill>
                <a:latin typeface="Times New Roman"/>
                <a:ea typeface="Times New Roman"/>
                <a:cs typeface="Times New Roman"/>
                <a:sym typeface="Times New Roman"/>
              </a:rPr>
              <a:t>, 2025.</a:t>
            </a:r>
            <a:endParaRPr sz="2300">
              <a:solidFill>
                <a:schemeClr val="dk1"/>
              </a:solidFill>
              <a:latin typeface="Times New Roman"/>
              <a:ea typeface="Times New Roman"/>
              <a:cs typeface="Times New Roman"/>
              <a:sym typeface="Times New Roman"/>
            </a:endParaRPr>
          </a:p>
          <a:p>
            <a:pPr indent="-374650" lvl="0" marL="457200" marR="0" rtl="0" algn="just">
              <a:lnSpc>
                <a:spcPct val="107000"/>
              </a:lnSpc>
              <a:spcBef>
                <a:spcPts val="0"/>
              </a:spcBef>
              <a:spcAft>
                <a:spcPts val="0"/>
              </a:spcAft>
              <a:buClr>
                <a:schemeClr val="dk1"/>
              </a:buClr>
              <a:buSzPts val="2300"/>
              <a:buFont typeface="Times New Roman"/>
              <a:buChar char="●"/>
            </a:pPr>
            <a:r>
              <a:rPr lang="en-IN" sz="2300">
                <a:solidFill>
                  <a:schemeClr val="dk1"/>
                </a:solidFill>
                <a:latin typeface="Times New Roman"/>
                <a:ea typeface="Times New Roman"/>
                <a:cs typeface="Times New Roman"/>
                <a:sym typeface="Times New Roman"/>
              </a:rPr>
              <a:t>Pushkal Badoniya, Manu Srivastava, Prashant K. Jain. Tailoring microstructure for enhanced mechanical and wear performance of wire arc additively manufactured SS 316L: Role of interlayer cooling time. </a:t>
            </a:r>
            <a:r>
              <a:rPr i="1" lang="en-IN" sz="2300">
                <a:solidFill>
                  <a:schemeClr val="dk1"/>
                </a:solidFill>
                <a:latin typeface="Times New Roman"/>
                <a:ea typeface="Times New Roman"/>
                <a:cs typeface="Times New Roman"/>
                <a:sym typeface="Times New Roman"/>
              </a:rPr>
              <a:t>Materials Today Communications</a:t>
            </a:r>
            <a:r>
              <a:rPr lang="en-IN" sz="2300">
                <a:solidFill>
                  <a:schemeClr val="dk1"/>
                </a:solidFill>
                <a:latin typeface="Times New Roman"/>
                <a:ea typeface="Times New Roman"/>
                <a:cs typeface="Times New Roman"/>
                <a:sym typeface="Times New Roman"/>
              </a:rPr>
              <a:t>, Volume 46, 112612, 2025.</a:t>
            </a:r>
            <a:endParaRPr sz="2300">
              <a:solidFill>
                <a:schemeClr val="dk1"/>
              </a:solidFill>
              <a:latin typeface="Times New Roman"/>
              <a:ea typeface="Times New Roman"/>
              <a:cs typeface="Times New Roman"/>
              <a:sym typeface="Times New Roman"/>
            </a:endParaRPr>
          </a:p>
          <a:p>
            <a:pPr indent="-374650" lvl="0" marL="457200" rtl="0" algn="just">
              <a:lnSpc>
                <a:spcPct val="107000"/>
              </a:lnSpc>
              <a:spcBef>
                <a:spcPts val="0"/>
              </a:spcBef>
              <a:spcAft>
                <a:spcPts val="0"/>
              </a:spcAft>
              <a:buClr>
                <a:schemeClr val="dk1"/>
              </a:buClr>
              <a:buSzPts val="2300"/>
              <a:buFont typeface="Times New Roman"/>
              <a:buChar char="●"/>
            </a:pPr>
            <a:r>
              <a:rPr lang="en-IN" sz="2300">
                <a:solidFill>
                  <a:schemeClr val="dk1"/>
                </a:solidFill>
                <a:latin typeface="Times New Roman"/>
                <a:ea typeface="Times New Roman"/>
                <a:cs typeface="Times New Roman"/>
                <a:sym typeface="Times New Roman"/>
              </a:rPr>
              <a:t>Hongwei Ding,</a:t>
            </a:r>
            <a:r>
              <a:rPr lang="en-IN" sz="2300">
                <a:solidFill>
                  <a:schemeClr val="dk1"/>
                </a:solidFill>
                <a:latin typeface="Times New Roman"/>
                <a:ea typeface="Times New Roman"/>
                <a:cs typeface="Times New Roman"/>
                <a:sym typeface="Times New Roman"/>
              </a:rPr>
              <a:t>Ming chuan Li</a:t>
            </a:r>
            <a:r>
              <a:rPr lang="en-IN" sz="2300">
                <a:solidFill>
                  <a:schemeClr val="dk1"/>
                </a:solidFill>
                <a:latin typeface="Times New Roman"/>
                <a:ea typeface="Times New Roman"/>
                <a:cs typeface="Times New Roman"/>
                <a:sym typeface="Times New Roman"/>
              </a:rPr>
              <a:t>, Hongyuan Wen, Yihua Shao, Jinhan Chen,Jianlong Feng, Shuai Chang, Liqun Li (2025).</a:t>
            </a:r>
            <a:r>
              <a:rPr i="1" lang="en-IN" sz="2300">
                <a:solidFill>
                  <a:schemeClr val="dk1"/>
                </a:solidFill>
                <a:latin typeface="Times New Roman"/>
                <a:ea typeface="Times New Roman"/>
                <a:cs typeface="Times New Roman"/>
                <a:sym typeface="Times New Roman"/>
              </a:rPr>
              <a:t>Research on microstructure and mechanical properties of 316L stainless steel fabricated by coaxial electron beam wire feeding additive manufacturing.</a:t>
            </a:r>
            <a:r>
              <a:rPr lang="en-IN" sz="2300">
                <a:solidFill>
                  <a:schemeClr val="dk1"/>
                </a:solidFill>
                <a:latin typeface="Times New Roman"/>
                <a:ea typeface="Times New Roman"/>
                <a:cs typeface="Times New Roman"/>
                <a:sym typeface="Times New Roman"/>
              </a:rPr>
              <a:t>Materials Letters, Volume 399, Article 138945.Published by Else</a:t>
            </a:r>
            <a:r>
              <a:rPr lang="en-IN" sz="2300">
                <a:solidFill>
                  <a:schemeClr val="dk1"/>
                </a:solidFill>
                <a:latin typeface="Times New Roman"/>
                <a:ea typeface="Times New Roman"/>
                <a:cs typeface="Times New Roman"/>
                <a:sym typeface="Times New Roman"/>
              </a:rPr>
              <a:t>vier.</a:t>
            </a:r>
            <a:endParaRPr sz="2300">
              <a:solidFill>
                <a:schemeClr val="dk1"/>
              </a:solidFill>
              <a:latin typeface="Times New Roman"/>
              <a:ea typeface="Times New Roman"/>
              <a:cs typeface="Times New Roman"/>
              <a:sym typeface="Times New Roman"/>
            </a:endParaRPr>
          </a:p>
          <a:p>
            <a:pPr indent="0" lvl="0" marL="457200" rtl="0" algn="just">
              <a:lnSpc>
                <a:spcPct val="107000"/>
              </a:lnSpc>
              <a:spcBef>
                <a:spcPts val="800"/>
              </a:spcBef>
              <a:spcAft>
                <a:spcPts val="0"/>
              </a:spcAft>
              <a:buNone/>
            </a:pPr>
            <a:r>
              <a:t/>
            </a:r>
            <a:endParaRPr sz="2300">
              <a:solidFill>
                <a:schemeClr val="dk1"/>
              </a:solidFill>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253" name="Google Shape;253;p33"/>
          <p:cNvSpPr/>
          <p:nvPr/>
        </p:nvSpPr>
        <p:spPr>
          <a:xfrm>
            <a:off x="101475" y="88800"/>
            <a:ext cx="11815200" cy="6858000"/>
          </a:xfrm>
          <a:prstGeom prst="rect">
            <a:avLst/>
          </a:prstGeom>
          <a:noFill/>
          <a:ln>
            <a:noFill/>
          </a:ln>
        </p:spPr>
        <p:txBody>
          <a:bodyPr anchorCtr="0" anchor="t" bIns="45700" lIns="91425" spcFirstLastPara="1" rIns="91425" wrap="square" tIns="45700">
            <a:noAutofit/>
          </a:bodyPr>
          <a:lstStyle/>
          <a:p>
            <a:pPr indent="-374650" lvl="0" marL="457200" rtl="0" algn="l">
              <a:lnSpc>
                <a:spcPct val="115000"/>
              </a:lnSpc>
              <a:spcBef>
                <a:spcPts val="0"/>
              </a:spcBef>
              <a:spcAft>
                <a:spcPts val="0"/>
              </a:spcAft>
              <a:buClr>
                <a:schemeClr val="dk1"/>
              </a:buClr>
              <a:buSzPts val="2300"/>
              <a:buFont typeface="Times New Roman"/>
              <a:buChar char="●"/>
            </a:pPr>
            <a:r>
              <a:rPr lang="en-IN" sz="2300">
                <a:solidFill>
                  <a:schemeClr val="dk1"/>
                </a:solidFill>
                <a:latin typeface="Times New Roman"/>
                <a:ea typeface="Times New Roman"/>
                <a:cs typeface="Times New Roman"/>
                <a:sym typeface="Times New Roman"/>
              </a:rPr>
              <a:t>L</a:t>
            </a:r>
            <a:r>
              <a:rPr lang="en-IN" sz="2300">
                <a:solidFill>
                  <a:schemeClr val="dk1"/>
                </a:solidFill>
                <a:latin typeface="Times New Roman"/>
                <a:ea typeface="Times New Roman"/>
                <a:cs typeface="Times New Roman"/>
                <a:sym typeface="Times New Roman"/>
              </a:rPr>
              <a:t>ucas Lauriano da Silva, Demostenes Ferreira Filho (2025).</a:t>
            </a:r>
            <a:r>
              <a:rPr i="1" lang="en-IN" sz="2300">
                <a:solidFill>
                  <a:schemeClr val="dk1"/>
                </a:solidFill>
                <a:latin typeface="Times New Roman"/>
                <a:ea typeface="Times New Roman"/>
                <a:cs typeface="Times New Roman"/>
                <a:sym typeface="Times New Roman"/>
              </a:rPr>
              <a:t>Mechanical properties and                       corrosion resistance of a component manufactured by Wire Arc </a:t>
            </a:r>
            <a:r>
              <a:rPr i="1" lang="en-IN" sz="2300">
                <a:solidFill>
                  <a:schemeClr val="dk1"/>
                </a:solidFill>
                <a:latin typeface="Times New Roman"/>
                <a:ea typeface="Times New Roman"/>
                <a:cs typeface="Times New Roman"/>
                <a:sym typeface="Times New Roman"/>
              </a:rPr>
              <a:t>Additive Manufacturing</a:t>
            </a:r>
            <a:r>
              <a:rPr i="1" lang="en-IN" sz="2300">
                <a:solidFill>
                  <a:schemeClr val="dk1"/>
                </a:solidFill>
                <a:latin typeface="Times New Roman"/>
                <a:ea typeface="Times New Roman"/>
                <a:cs typeface="Times New Roman"/>
                <a:sym typeface="Times New Roman"/>
              </a:rPr>
              <a:t>.</a:t>
            </a:r>
            <a:r>
              <a:rPr lang="en-IN" sz="2300">
                <a:solidFill>
                  <a:schemeClr val="dk1"/>
                </a:solidFill>
                <a:latin typeface="Times New Roman"/>
                <a:ea typeface="Times New Roman"/>
                <a:cs typeface="Times New Roman"/>
                <a:sym typeface="Times New Roman"/>
              </a:rPr>
              <a:t>Procedia   Computer Science, Volume 253,Published by Elsevier.</a:t>
            </a:r>
            <a:endParaRPr sz="2300">
              <a:solidFill>
                <a:schemeClr val="dk1"/>
              </a:solidFill>
              <a:latin typeface="Times New Roman"/>
              <a:ea typeface="Times New Roman"/>
              <a:cs typeface="Times New Roman"/>
              <a:sym typeface="Times New Roman"/>
            </a:endParaRPr>
          </a:p>
          <a:p>
            <a:pPr indent="-374650" lvl="0" marL="457200" rtl="0" algn="just">
              <a:spcBef>
                <a:spcPts val="0"/>
              </a:spcBef>
              <a:spcAft>
                <a:spcPts val="0"/>
              </a:spcAft>
              <a:buClr>
                <a:schemeClr val="dk1"/>
              </a:buClr>
              <a:buSzPts val="2300"/>
              <a:buFont typeface="Times New Roman"/>
              <a:buChar char="●"/>
            </a:pPr>
            <a:r>
              <a:rPr lang="en-IN" sz="2300">
                <a:solidFill>
                  <a:schemeClr val="dk1"/>
                </a:solidFill>
                <a:latin typeface="Times New Roman"/>
                <a:ea typeface="Times New Roman"/>
                <a:cs typeface="Times New Roman"/>
                <a:sym typeface="Times New Roman"/>
              </a:rPr>
              <a:t>Fei Yang, Canhui Wu, Ruifeng Li, Feng Fang, Liming Dong, Wei Xiong,Hyoung Seop Kim, Wenyi Huo (2025).</a:t>
            </a:r>
            <a:r>
              <a:rPr i="1" lang="en-IN" sz="2300">
                <a:solidFill>
                  <a:schemeClr val="dk1"/>
                </a:solidFill>
                <a:latin typeface="Times New Roman"/>
                <a:ea typeface="Times New Roman"/>
                <a:cs typeface="Times New Roman"/>
                <a:sym typeface="Times New Roman"/>
              </a:rPr>
              <a:t>Wire arc additive manufacturing of dissimilar alloys: Processing strategies and interfacial phenomena.</a:t>
            </a:r>
            <a:r>
              <a:rPr lang="en-IN" sz="2300">
                <a:solidFill>
                  <a:schemeClr val="dk1"/>
                </a:solidFill>
                <a:latin typeface="Times New Roman"/>
                <a:ea typeface="Times New Roman"/>
                <a:cs typeface="Times New Roman"/>
                <a:sym typeface="Times New Roman"/>
              </a:rPr>
              <a:t>Journal of Manufacturing Processes, Volume 156, Published by The Society of Manufacturing Engineers (Elsevier).</a:t>
            </a:r>
            <a:endParaRPr sz="2300">
              <a:solidFill>
                <a:schemeClr val="dk1"/>
              </a:solidFill>
              <a:latin typeface="Times New Roman"/>
              <a:ea typeface="Times New Roman"/>
              <a:cs typeface="Times New Roman"/>
              <a:sym typeface="Times New Roman"/>
            </a:endParaRPr>
          </a:p>
          <a:p>
            <a:pPr indent="-374650" lvl="0" marL="457200" marR="0" rtl="0" algn="just">
              <a:spcBef>
                <a:spcPts val="0"/>
              </a:spcBef>
              <a:spcAft>
                <a:spcPts val="0"/>
              </a:spcAft>
              <a:buClr>
                <a:schemeClr val="dk1"/>
              </a:buClr>
              <a:buSzPts val="2300"/>
              <a:buFont typeface="Times New Roman"/>
              <a:buChar char="●"/>
            </a:pPr>
            <a:r>
              <a:rPr lang="en-IN" sz="2300">
                <a:solidFill>
                  <a:schemeClr val="dk1"/>
                </a:solidFill>
                <a:latin typeface="Times New Roman"/>
                <a:ea typeface="Times New Roman"/>
                <a:cs typeface="Times New Roman"/>
                <a:sym typeface="Times New Roman"/>
              </a:rPr>
              <a:t>T.S. Senthil,S. Ramesh Babu,M. Puviyarasan, V. Sai Balachandar. Experimental investigations on the multi-layered SS316L wall fabricated by CMT-based WAAM: Mechanical and microstructural studies. </a:t>
            </a:r>
            <a:r>
              <a:rPr i="1" lang="en-IN" sz="2300">
                <a:solidFill>
                  <a:schemeClr val="dk1"/>
                </a:solidFill>
                <a:latin typeface="Times New Roman"/>
                <a:ea typeface="Times New Roman"/>
                <a:cs typeface="Times New Roman"/>
                <a:sym typeface="Times New Roman"/>
              </a:rPr>
              <a:t>Journal of Alloys and Metallurgical Systems</a:t>
            </a:r>
            <a:r>
              <a:rPr lang="en-IN" sz="2300">
                <a:solidFill>
                  <a:schemeClr val="dk1"/>
                </a:solidFill>
                <a:latin typeface="Times New Roman"/>
                <a:ea typeface="Times New Roman"/>
                <a:cs typeface="Times New Roman"/>
                <a:sym typeface="Times New Roman"/>
              </a:rPr>
              <a:t>, 2023.</a:t>
            </a:r>
            <a:endParaRPr sz="2300">
              <a:solidFill>
                <a:schemeClr val="dk1"/>
              </a:solidFill>
              <a:latin typeface="Times New Roman"/>
              <a:ea typeface="Times New Roman"/>
              <a:cs typeface="Times New Roman"/>
              <a:sym typeface="Times New Roman"/>
            </a:endParaRPr>
          </a:p>
          <a:p>
            <a:pPr indent="-374650" lvl="0" marL="457200" marR="0" rtl="0" algn="just">
              <a:spcBef>
                <a:spcPts val="0"/>
              </a:spcBef>
              <a:spcAft>
                <a:spcPts val="0"/>
              </a:spcAft>
              <a:buClr>
                <a:schemeClr val="dk1"/>
              </a:buClr>
              <a:buSzPts val="2300"/>
              <a:buFont typeface="Times New Roman"/>
              <a:buChar char="●"/>
            </a:pPr>
            <a:r>
              <a:rPr lang="en-IN" sz="2300">
                <a:solidFill>
                  <a:schemeClr val="dk1"/>
                </a:solidFill>
                <a:latin typeface="Times New Roman"/>
                <a:ea typeface="Times New Roman"/>
                <a:cs typeface="Times New Roman"/>
                <a:sym typeface="Times New Roman"/>
              </a:rPr>
              <a:t>A. Singh, X., Y., Z. et al</a:t>
            </a:r>
            <a:r>
              <a:rPr b="1" lang="en-IN" sz="2300">
                <a:solidFill>
                  <a:schemeClr val="dk1"/>
                </a:solidFill>
                <a:latin typeface="Times New Roman"/>
                <a:ea typeface="Times New Roman"/>
                <a:cs typeface="Times New Roman"/>
                <a:sym typeface="Times New Roman"/>
              </a:rPr>
              <a:t>.</a:t>
            </a:r>
            <a:r>
              <a:rPr lang="en-IN" sz="2300">
                <a:solidFill>
                  <a:schemeClr val="dk1"/>
                </a:solidFill>
                <a:latin typeface="Times New Roman"/>
                <a:ea typeface="Times New Roman"/>
                <a:cs typeface="Times New Roman"/>
                <a:sym typeface="Times New Roman"/>
              </a:rPr>
              <a:t> Influence of process parameters on microstructure and mechanical behavior of WAAM stainless steel. </a:t>
            </a:r>
            <a:r>
              <a:rPr i="1" lang="en-IN" sz="2300">
                <a:solidFill>
                  <a:schemeClr val="dk1"/>
                </a:solidFill>
                <a:latin typeface="Times New Roman"/>
                <a:ea typeface="Times New Roman"/>
                <a:cs typeface="Times New Roman"/>
                <a:sym typeface="Times New Roman"/>
              </a:rPr>
              <a:t>Defect and Diffusion Forum</a:t>
            </a:r>
            <a:r>
              <a:rPr lang="en-IN" sz="2300">
                <a:solidFill>
                  <a:schemeClr val="dk1"/>
                </a:solidFill>
                <a:latin typeface="Times New Roman"/>
                <a:ea typeface="Times New Roman"/>
                <a:cs typeface="Times New Roman"/>
                <a:sym typeface="Times New Roman"/>
              </a:rPr>
              <a:t>, 2025</a:t>
            </a:r>
            <a:endParaRPr sz="2300">
              <a:latin typeface="Times New Roman"/>
              <a:ea typeface="Times New Roman"/>
              <a:cs typeface="Times New Roman"/>
              <a:sym typeface="Times New Roman"/>
            </a:endParaRPr>
          </a:p>
          <a:p>
            <a:pPr indent="-374650" lvl="0" marL="457200" marR="0" rtl="0" algn="just">
              <a:spcBef>
                <a:spcPts val="0"/>
              </a:spcBef>
              <a:spcAft>
                <a:spcPts val="0"/>
              </a:spcAft>
              <a:buClr>
                <a:schemeClr val="dk1"/>
              </a:buClr>
              <a:buSzPts val="2300"/>
              <a:buFont typeface="Times New Roman"/>
              <a:buChar char="●"/>
            </a:pPr>
            <a:r>
              <a:rPr lang="en-IN" sz="2300">
                <a:solidFill>
                  <a:schemeClr val="dk1"/>
                </a:solidFill>
                <a:latin typeface="Times New Roman"/>
                <a:ea typeface="Times New Roman"/>
                <a:cs typeface="Times New Roman"/>
                <a:sym typeface="Times New Roman"/>
              </a:rPr>
              <a:t>Bunty Tomar, S. Shiva. Microstructural and mechanical properties examination of SS316L–Cu functionally graded material fabricated by wire arc additive manufacturing. </a:t>
            </a:r>
            <a:r>
              <a:rPr i="1" lang="en-IN" sz="2300">
                <a:solidFill>
                  <a:schemeClr val="dk1"/>
                </a:solidFill>
                <a:latin typeface="Times New Roman"/>
                <a:ea typeface="Times New Roman"/>
                <a:cs typeface="Times New Roman"/>
                <a:sym typeface="Times New Roman"/>
              </a:rPr>
              <a:t>CIRP Journal of Manufacturing Science and Technology</a:t>
            </a:r>
            <a:r>
              <a:rPr lang="en-IN" sz="2300">
                <a:solidFill>
                  <a:schemeClr val="dk1"/>
                </a:solidFill>
                <a:latin typeface="Times New Roman"/>
                <a:ea typeface="Times New Roman"/>
                <a:cs typeface="Times New Roman"/>
                <a:sym typeface="Times New Roman"/>
              </a:rPr>
              <a:t>,  2024.</a:t>
            </a:r>
            <a:endParaRPr sz="2300">
              <a:solidFill>
                <a:schemeClr val="dk1"/>
              </a:solidFill>
              <a:latin typeface="Times New Roman"/>
              <a:ea typeface="Times New Roman"/>
              <a:cs typeface="Times New Roman"/>
              <a:sym typeface="Times New Roman"/>
            </a:endParaRPr>
          </a:p>
          <a:p>
            <a:pPr indent="-374650" lvl="0" marL="457200" marR="0" rtl="0" algn="just">
              <a:spcBef>
                <a:spcPts val="0"/>
              </a:spcBef>
              <a:spcAft>
                <a:spcPts val="0"/>
              </a:spcAft>
              <a:buClr>
                <a:schemeClr val="dk1"/>
              </a:buClr>
              <a:buSzPts val="2300"/>
              <a:buFont typeface="Times New Roman"/>
              <a:buChar char="●"/>
            </a:pPr>
            <a:r>
              <a:rPr lang="en-IN" sz="2300">
                <a:solidFill>
                  <a:schemeClr val="dk1"/>
                </a:solidFill>
                <a:latin typeface="Times New Roman"/>
                <a:ea typeface="Times New Roman"/>
                <a:cs typeface="Times New Roman"/>
                <a:sym typeface="Times New Roman"/>
              </a:rPr>
              <a:t> </a:t>
            </a:r>
            <a:r>
              <a:rPr lang="en-IN" sz="2300">
                <a:solidFill>
                  <a:schemeClr val="dk1"/>
                </a:solidFill>
                <a:latin typeface="Times New Roman"/>
                <a:ea typeface="Times New Roman"/>
                <a:cs typeface="Times New Roman"/>
                <a:sym typeface="Times New Roman"/>
              </a:rPr>
              <a:t>Sasikumar C and R. Oyyaravelu</a:t>
            </a:r>
            <a:r>
              <a:rPr b="1" lang="en-IN" sz="2300">
                <a:solidFill>
                  <a:schemeClr val="dk1"/>
                </a:solidFill>
                <a:latin typeface="Times New Roman"/>
                <a:ea typeface="Times New Roman"/>
                <a:cs typeface="Times New Roman"/>
                <a:sym typeface="Times New Roman"/>
              </a:rPr>
              <a:t>.</a:t>
            </a:r>
            <a:r>
              <a:rPr lang="en-IN" sz="2300">
                <a:solidFill>
                  <a:schemeClr val="dk1"/>
                </a:solidFill>
                <a:latin typeface="Times New Roman"/>
                <a:ea typeface="Times New Roman"/>
                <a:cs typeface="Times New Roman"/>
                <a:sym typeface="Times New Roman"/>
              </a:rPr>
              <a:t> Mechanical properties and microstructure of SS 316L created by WAAM based on GMAW. </a:t>
            </a:r>
            <a:r>
              <a:rPr i="1" lang="en-IN" sz="2300">
                <a:solidFill>
                  <a:schemeClr val="dk1"/>
                </a:solidFill>
                <a:latin typeface="Times New Roman"/>
                <a:ea typeface="Times New Roman"/>
                <a:cs typeface="Times New Roman"/>
                <a:sym typeface="Times New Roman"/>
              </a:rPr>
              <a:t>Materials Today Communications</a:t>
            </a:r>
            <a:r>
              <a:rPr lang="en-IN" sz="2300">
                <a:solidFill>
                  <a:schemeClr val="dk1"/>
                </a:solidFill>
                <a:latin typeface="Times New Roman"/>
                <a:ea typeface="Times New Roman"/>
                <a:cs typeface="Times New Roman"/>
                <a:sym typeface="Times New Roman"/>
              </a:rPr>
              <a:t>, vol. 38, Article 107807,2024.</a:t>
            </a:r>
            <a:endParaRPr sz="2300">
              <a:solidFill>
                <a:schemeClr val="dk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259" name="Google Shape;259;p34"/>
          <p:cNvSpPr txBox="1"/>
          <p:nvPr/>
        </p:nvSpPr>
        <p:spPr>
          <a:xfrm>
            <a:off x="190500" y="136525"/>
            <a:ext cx="118110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a:p>
        </p:txBody>
      </p:sp>
      <p:sp>
        <p:nvSpPr>
          <p:cNvPr id="260" name="Google Shape;260;p34"/>
          <p:cNvSpPr txBox="1"/>
          <p:nvPr/>
        </p:nvSpPr>
        <p:spPr>
          <a:xfrm>
            <a:off x="638150" y="973125"/>
            <a:ext cx="112617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261" name="Google Shape;261;p34"/>
          <p:cNvSpPr txBox="1"/>
          <p:nvPr/>
        </p:nvSpPr>
        <p:spPr>
          <a:xfrm>
            <a:off x="248325" y="987550"/>
            <a:ext cx="8316300" cy="615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2800">
              <a:solidFill>
                <a:schemeClr val="dk1"/>
              </a:solidFill>
              <a:latin typeface="Calibri"/>
              <a:ea typeface="Calibri"/>
              <a:cs typeface="Calibri"/>
              <a:sym typeface="Calibri"/>
            </a:endParaRPr>
          </a:p>
        </p:txBody>
      </p:sp>
      <p:pic>
        <p:nvPicPr>
          <p:cNvPr id="262" name="Google Shape;262;p34" title="ChatGPT Image Feb 22, 2026, 09_49_00 AM.png"/>
          <p:cNvPicPr preferRelativeResize="0"/>
          <p:nvPr/>
        </p:nvPicPr>
        <p:blipFill>
          <a:blip r:embed="rId3">
            <a:alphaModFix/>
          </a:blip>
          <a:stretch>
            <a:fillRect/>
          </a:stretch>
        </p:blipFill>
        <p:spPr>
          <a:xfrm>
            <a:off x="3040000" y="925313"/>
            <a:ext cx="7425074" cy="495004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